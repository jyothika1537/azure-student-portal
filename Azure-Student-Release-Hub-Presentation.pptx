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9" d="100"/>
          <a:sy n="89" d="100"/>
        </p:scale>
        <p:origin x="81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6516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statement ID and title clearly, then introduce Student Release Hub as the demonstration app for the real focus: safe Azure release management using deployment slots.
Emphasize: this is not a generic CI/CD project — it targets the exact bottlenecks of slot swap warm-up and slot-specific settings.
Likely question: 'Is Student Release Hub itself the innovation?' Answer: No — it is a Spring Boot demo app used to validate a real Azure deployment-slot release architecture; the architecture is the actual solution.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statement plainly: two use cases (zero-downtime slot swap, pre-swap validation) and two bottlenecks (slot-specific settings, missing warm-up).
Emphasize every later slide maps back to exactly these four points — nothing generic was added.
Likely question: 'How does your project address the two stated bottlenecks?' Answer: DEPLOYMENT_SLOT app settings configured per slot (Slide 9) and WEBSITE_SWAP_WARMUP_PING_PATH/STATUSES configured on Actuator's /actuator/health (Slide 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a naive direct-to-production deploy against our staged approach — don't overstate the risk, keep it grounded (config drift, unready app, no validation window).
Introduce the controlled slot-based flow as the fix, which the next slide expands.
Likely question: 'Why not just deploy directly and monitor after?' Answer: monitoring after go-live still exposes real users to a bad build; staging validation catches issues before any user is affected.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stages left to right, top row then bottom row: Code, Build, Deploy to Staging, Health Check, Warm-up, Validation, Slot Swap, Production.
Emphasize that swap only happens after validation passes — this is the core mechanism addressing both use cases.
Likely question: 'What happens if staging fails health validation?' Answer: the swap step is not triggered; production keeps serving the previous version untouched.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technical slide — walk it in under 30 seconds: commit flows through GitHub, Maven builds it, Azure App Service hosts Production and Staging; Staging runs through Actuator health check, Azure Health Check, warm-up and validation before a swap promotes it to Production.
Likely question: 'Why put Actuator behind Azure's own health check instead of relying on Azure alone?' Answer: Azure Health Check needs an endpoint to poll — Actuator's /actuator/health is that applicationaware signal, so Azure's platform-level check and the app's own readiness state agree.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technologies by role: application layer (Java 21, Spring Boot, Thymeleaf), build (Maven), version control (Git/GitHub), cloud (Azure App Service, Deployment Slots, App Service Plan), and validation (Actuator, Azure Health Check).
Note Application Insights / Azure Monitor exist only as optional monitoring context, not an implemented core feature, if asked.
Likely question: 'Why Spring Boot Actuator instead of a custom health endpoint?' Answer: Actuator's /actuator/health is a standard, production-grade health endpoint that Azure's health check and warm-up ping can both call without custom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one App Service, student-release-hub-2026, hosting two slots on an S1 Linux plan in Southeast Asia. Production serves live traffic; Staging is where the next release is validated.
Point out DEPLOYMENT_SLOT is set per slot — this is the concrete setting behind Bottleneck #1, expanded on slide 9.
Likely question: 'What is the difference between Production and Staging technically?' Answer: same App Service Plan and runtime, separate app settings and separate URL — Staging lets you test the exact production configuration before it goes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concrete answer to 'how do you validate before swapping'. Show the exact app settings on the left, then the real observed result on the right.
State clearly these are actual recorded values from the deployed app, not estimates.
Likely question: 'Why HTTP 200 specifically?' Answer: WEBSITE_SWAP_WARMUP_PING_STATUSES tells Azure which response codes count as 'healthy' during warm-up — 200 is Actuator's success code for /actuator/health.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slot-specific (a.k.a. 'deployment slot') settings in Azure: normally an App Setting swaps with the code, but a setting flagged as slot-specific stays pinned to its slot.
We use this for DEPLOYMENT_SLOT so each environment always correctly reports its own identity, even after a swap.
Likely question: 'What happens to slot-specific settings during a swap?' Answer: they do not move — Production keeps its own slot-specific values and Staging keeps its own, while everything else (the code and non-slot settings) swaps.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'everything on this slide actually happened' — commit 53e15ed, 6 Maven tests passed, both slots returned HTTP 200, and the swap plus rollback were both exercised.
Do not add performance numbers, uptime percentages, or user counts — none were measured, and an expert will probe fabricated metrics immediately.
Likely question: 'How did you verify the deployment end-to-end?' Answer: automated Maven test suite pre-deploy, then manual HTTP checks against both slot URLs and the /actuator/health payload after deploying.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full loop once, then invite questions.
Emphasize this is one component of a broader release pipeline, not a full CI/CD replacement — deployment slots solve the promotion and validation step specifically.
Likely question: 'What would you add for a production enterprise deployment?' Answer: automated CI/CD triggering the slot deploy, Application Insights for deeper telemetry, and possibly staged rollout with traffic percentage routing.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D"/>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065A82">
              <a:alpha val="45000"/>
            </a:srgbClr>
          </a:solidFill>
          <a:ln/>
        </p:spPr>
      </p:sp>
      <p:sp>
        <p:nvSpPr>
          <p:cNvPr id="3" name="Shape 1"/>
          <p:cNvSpPr/>
          <p:nvPr/>
        </p:nvSpPr>
        <p:spPr>
          <a:xfrm>
            <a:off x="9966960" y="4206240"/>
            <a:ext cx="3291840" cy="3291840"/>
          </a:xfrm>
          <a:prstGeom prst="ellipse">
            <a:avLst/>
          </a:prstGeom>
          <a:solidFill>
            <a:srgbClr val="1C7293">
              <a:alpha val="55000"/>
            </a:srgbClr>
          </a:solidFill>
          <a:ln/>
        </p:spPr>
      </p:sp>
      <p:sp>
        <p:nvSpPr>
          <p:cNvPr id="4" name="Text 2"/>
          <p:cNvSpPr txBox="1"/>
          <p:nvPr/>
        </p:nvSpPr>
        <p:spPr>
          <a:xfrm>
            <a:off x="640080" y="640080"/>
            <a:ext cx="7315200" cy="365760"/>
          </a:xfrm>
          <a:prstGeom prst="rect">
            <a:avLst/>
          </a:prstGeom>
          <a:noFill/>
          <a:ln/>
        </p:spPr>
        <p:txBody>
          <a:bodyPr wrap="square" lIns="0" tIns="0" rIns="0" bIns="0" rtlCol="0" anchor="ctr"/>
          <a:lstStyle/>
          <a:p>
            <a:pPr marL="0" indent="0">
              <a:buNone/>
            </a:pPr>
            <a:r>
              <a:rPr lang="en-US" sz="1300" b="1" kern="0" spc="200" dirty="0">
                <a:solidFill>
                  <a:srgbClr val="21C3A4"/>
                </a:solidFill>
                <a:latin typeface="Calibri" pitchFamily="34" charset="0"/>
                <a:ea typeface="Calibri" pitchFamily="34" charset="-122"/>
                <a:cs typeface="Calibri" pitchFamily="34" charset="-120"/>
              </a:rPr>
              <a:t>24CC3046-P041   ·   APPLICATION HOSTING</a:t>
            </a:r>
            <a:endParaRPr lang="en-US" sz="1300" dirty="0"/>
          </a:p>
        </p:txBody>
      </p:sp>
      <p:sp>
        <p:nvSpPr>
          <p:cNvPr id="5" name="Text 3"/>
          <p:cNvSpPr txBox="1"/>
          <p:nvPr/>
        </p:nvSpPr>
        <p:spPr>
          <a:xfrm>
            <a:off x="640080" y="1371600"/>
            <a:ext cx="9601200" cy="164592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Azure App Service Deployment Slots</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with Swap Validation</a:t>
            </a:r>
            <a:endParaRPr lang="en-US" sz="4000" dirty="0"/>
          </a:p>
        </p:txBody>
      </p:sp>
      <p:sp>
        <p:nvSpPr>
          <p:cNvPr id="6" name="Text 4"/>
          <p:cNvSpPr txBox="1"/>
          <p:nvPr/>
        </p:nvSpPr>
        <p:spPr>
          <a:xfrm>
            <a:off x="640080" y="3063240"/>
            <a:ext cx="9144000" cy="54864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Safe Version Promotion Through Staging, Health Validation, Warm-up &amp; Slot Swap</a:t>
            </a:r>
            <a:endParaRPr lang="en-US" sz="1600" dirty="0"/>
          </a:p>
        </p:txBody>
      </p:sp>
      <p:sp>
        <p:nvSpPr>
          <p:cNvPr id="7" name="Shape 5"/>
          <p:cNvSpPr/>
          <p:nvPr/>
        </p:nvSpPr>
        <p:spPr>
          <a:xfrm>
            <a:off x="640080" y="3794760"/>
            <a:ext cx="2926080" cy="0"/>
          </a:xfrm>
          <a:prstGeom prst="line">
            <a:avLst/>
          </a:prstGeom>
          <a:noFill/>
          <a:ln w="25400">
            <a:solidFill>
              <a:srgbClr val="21C3A4"/>
            </a:solidFill>
            <a:prstDash val="solid"/>
          </a:ln>
        </p:spPr>
      </p:sp>
      <p:sp>
        <p:nvSpPr>
          <p:cNvPr id="8" name="Text 6"/>
          <p:cNvSpPr txBox="1"/>
          <p:nvPr/>
        </p:nvSpPr>
        <p:spPr>
          <a:xfrm>
            <a:off x="640080" y="3977640"/>
            <a:ext cx="54864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Project: Student Release Hub</a:t>
            </a:r>
            <a:endParaRPr lang="en-US" sz="1400" dirty="0"/>
          </a:p>
        </p:txBody>
      </p:sp>
      <p:sp>
        <p:nvSpPr>
          <p:cNvPr id="10" name="Text 8"/>
          <p:cNvSpPr txBox="1"/>
          <p:nvPr/>
        </p:nvSpPr>
        <p:spPr>
          <a:xfrm>
            <a:off x="640080" y="4457699"/>
            <a:ext cx="3444528" cy="1097281"/>
          </a:xfrm>
          <a:prstGeom prst="rect">
            <a:avLst/>
          </a:prstGeom>
          <a:noFill/>
          <a:ln/>
        </p:spPr>
        <p:txBody>
          <a:bodyPr wrap="square" lIns="0" tIns="0" rIns="0" bIns="0" rtlCol="0" anchor="ctr"/>
          <a:lstStyle/>
          <a:p>
            <a:pPr marL="0" indent="0">
              <a:buNone/>
            </a:pPr>
            <a:r>
              <a:rPr lang="en-US" sz="2400" b="1" dirty="0">
                <a:solidFill>
                  <a:srgbClr val="CADCFC"/>
                </a:solidFill>
                <a:latin typeface="Calibri" pitchFamily="34" charset="0"/>
                <a:ea typeface="Calibri" pitchFamily="34" charset="-122"/>
                <a:cs typeface="Calibri" pitchFamily="34" charset="-120"/>
              </a:rPr>
              <a:t>Team Members:</a:t>
            </a:r>
          </a:p>
          <a:p>
            <a:pPr marL="0" indent="0">
              <a:buNone/>
            </a:pPr>
            <a:r>
              <a:rPr lang="en-US" sz="1200" b="1" dirty="0">
                <a:solidFill>
                  <a:srgbClr val="CADCFC"/>
                </a:solidFill>
                <a:latin typeface="Calibri" pitchFamily="34" charset="0"/>
                <a:ea typeface="Calibri" pitchFamily="34" charset="-122"/>
                <a:cs typeface="Calibri" pitchFamily="34" charset="-120"/>
              </a:rPr>
              <a:t> </a:t>
            </a:r>
            <a:r>
              <a:rPr lang="en-US" sz="1600" b="1" dirty="0">
                <a:solidFill>
                  <a:srgbClr val="CADCFC"/>
                </a:solidFill>
                <a:latin typeface="Calibri" pitchFamily="34" charset="0"/>
                <a:ea typeface="Calibri" pitchFamily="34" charset="-122"/>
                <a:cs typeface="Calibri" pitchFamily="34" charset="-120"/>
              </a:rPr>
              <a:t>2400032343 J. Naga Mahalaxmi</a:t>
            </a:r>
          </a:p>
          <a:p>
            <a:pPr marL="0" indent="0">
              <a:buNone/>
            </a:pPr>
            <a:r>
              <a:rPr lang="en-US" sz="1600" b="1" dirty="0">
                <a:solidFill>
                  <a:srgbClr val="CADCFC"/>
                </a:solidFill>
                <a:latin typeface="Calibri" pitchFamily="34" charset="0"/>
                <a:ea typeface="Calibri" pitchFamily="34" charset="-122"/>
                <a:cs typeface="Calibri" pitchFamily="34" charset="-120"/>
              </a:rPr>
              <a:t>2400032243 V. Jyothika</a:t>
            </a:r>
          </a:p>
          <a:p>
            <a:pPr marL="0" indent="0">
              <a:buNone/>
            </a:pPr>
            <a:r>
              <a:rPr lang="en-US" sz="1600" b="1" dirty="0">
                <a:solidFill>
                  <a:srgbClr val="CADCFC"/>
                </a:solidFill>
                <a:latin typeface="Calibri" pitchFamily="34" charset="0"/>
                <a:ea typeface="Calibri" pitchFamily="34" charset="-122"/>
                <a:cs typeface="Calibri" pitchFamily="34" charset="-120"/>
              </a:rPr>
              <a:t>2400032255 Syed </a:t>
            </a:r>
            <a:r>
              <a:rPr lang="en-US" sz="1600" b="1" dirty="0" err="1">
                <a:solidFill>
                  <a:srgbClr val="CADCFC"/>
                </a:solidFill>
                <a:latin typeface="Calibri" pitchFamily="34" charset="0"/>
                <a:ea typeface="Calibri" pitchFamily="34" charset="-122"/>
                <a:cs typeface="Calibri" pitchFamily="34" charset="-120"/>
              </a:rPr>
              <a:t>vasim</a:t>
            </a:r>
            <a:r>
              <a:rPr lang="en-US" sz="1600" b="1" dirty="0">
                <a:solidFill>
                  <a:srgbClr val="CADCFC"/>
                </a:solidFill>
                <a:latin typeface="Calibri" pitchFamily="34" charset="0"/>
                <a:ea typeface="Calibri" pitchFamily="34" charset="-122"/>
                <a:cs typeface="Calibri" pitchFamily="34" charset="-120"/>
              </a:rPr>
              <a:t> </a:t>
            </a:r>
            <a:r>
              <a:rPr lang="en-US" sz="1600" b="1" dirty="0" err="1">
                <a:solidFill>
                  <a:srgbClr val="CADCFC"/>
                </a:solidFill>
                <a:latin typeface="Calibri" pitchFamily="34" charset="0"/>
                <a:ea typeface="Calibri" pitchFamily="34" charset="-122"/>
                <a:cs typeface="Calibri" pitchFamily="34" charset="-120"/>
              </a:rPr>
              <a:t>nagur</a:t>
            </a:r>
            <a:r>
              <a:rPr lang="en-US" sz="1600" b="1" dirty="0">
                <a:solidFill>
                  <a:srgbClr val="CADCFC"/>
                </a:solidFill>
                <a:latin typeface="Calibri" pitchFamily="34" charset="0"/>
                <a:ea typeface="Calibri" pitchFamily="34" charset="-122"/>
                <a:cs typeface="Calibri" pitchFamily="34" charset="-120"/>
              </a:rPr>
              <a:t> vali</a:t>
            </a:r>
            <a:endParaRPr lang="en-US" sz="1600" dirty="0"/>
          </a:p>
        </p:txBody>
      </p:sp>
      <p:sp>
        <p:nvSpPr>
          <p:cNvPr id="18" name="Text 16"/>
          <p:cNvSpPr txBox="1"/>
          <p:nvPr/>
        </p:nvSpPr>
        <p:spPr>
          <a:xfrm>
            <a:off x="640080" y="6400800"/>
            <a:ext cx="7315200" cy="274320"/>
          </a:xfrm>
          <a:prstGeom prst="rect">
            <a:avLst/>
          </a:prstGeom>
          <a:noFill/>
          <a:ln/>
        </p:spPr>
        <p:txBody>
          <a:bodyPr wrap="square" lIns="0" tIns="0" rIns="0" bIns="0" rtlCol="0" anchor="ctr"/>
          <a:lstStyle/>
          <a:p>
            <a:pPr marL="0" indent="0">
              <a:buNone/>
            </a:pPr>
            <a:r>
              <a:rPr lang="en-US" sz="1000" dirty="0">
                <a:solidFill>
                  <a:srgbClr val="8FA6B6"/>
                </a:solidFill>
                <a:latin typeface="Calibri" pitchFamily="34" charset="0"/>
                <a:ea typeface="Calibri" pitchFamily="34" charset="-122"/>
                <a:cs typeface="Calibri" pitchFamily="34" charset="-120"/>
              </a:rPr>
              <a:t>github.com/jyothika1537/azure-student-portal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PROBLEM STATEMENT</a:t>
            </a:r>
            <a:endParaRPr lang="en-US" sz="1100" dirty="0"/>
          </a:p>
        </p:txBody>
      </p:sp>
      <p:sp>
        <p:nvSpPr>
          <p:cNvPr id="4" name="Text 2"/>
          <p:cNvSpPr txBox="1"/>
          <p:nvPr/>
        </p:nvSpPr>
        <p:spPr>
          <a:xfrm>
            <a:off x="548640" y="960120"/>
            <a:ext cx="9144000" cy="457200"/>
          </a:xfrm>
          <a:prstGeom prst="rect">
            <a:avLst/>
          </a:prstGeom>
          <a:noFill/>
          <a:ln/>
        </p:spPr>
        <p:txBody>
          <a:bodyPr wrap="square" lIns="0" tIns="0" rIns="0" bIns="0" rtlCol="0" anchor="ctr"/>
          <a:lstStyle/>
          <a:p>
            <a:pPr marL="0" indent="0">
              <a:buNone/>
            </a:pPr>
            <a:r>
              <a:rPr lang="en-US" sz="2600" b="1" dirty="0">
                <a:solidFill>
                  <a:srgbClr val="1A2733"/>
                </a:solidFill>
                <a:latin typeface="Cambria" pitchFamily="34" charset="0"/>
                <a:ea typeface="Cambria" pitchFamily="34" charset="-122"/>
                <a:cs typeface="Cambria" pitchFamily="34" charset="-120"/>
              </a:rPr>
              <a:t>What we were asked to solve</a:t>
            </a:r>
            <a:endParaRPr lang="en-US" sz="2600" dirty="0"/>
          </a:p>
        </p:txBody>
      </p:sp>
      <p:sp>
        <p:nvSpPr>
          <p:cNvPr id="5" name="Shape 3"/>
          <p:cNvSpPr/>
          <p:nvPr/>
        </p:nvSpPr>
        <p:spPr>
          <a:xfrm>
            <a:off x="548640" y="1691640"/>
            <a:ext cx="5394960" cy="3063240"/>
          </a:xfrm>
          <a:prstGeom prst="roundRect">
            <a:avLst>
              <a:gd name="adj" fmla="val 2985"/>
            </a:avLst>
          </a:prstGeom>
          <a:solidFill>
            <a:srgbClr val="FFFFFF"/>
          </a:solidFill>
          <a:ln w="12700">
            <a:solidFill>
              <a:srgbClr val="DCE6EC"/>
            </a:solidFill>
            <a:prstDash val="solid"/>
          </a:ln>
        </p:spPr>
      </p:sp>
      <p:sp>
        <p:nvSpPr>
          <p:cNvPr id="6" name="Shape 4"/>
          <p:cNvSpPr/>
          <p:nvPr/>
        </p:nvSpPr>
        <p:spPr>
          <a:xfrm>
            <a:off x="548640" y="1691640"/>
            <a:ext cx="5394960" cy="502920"/>
          </a:xfrm>
          <a:prstGeom prst="roundRect">
            <a:avLst>
              <a:gd name="adj" fmla="val 18182"/>
            </a:avLst>
          </a:prstGeom>
          <a:solidFill>
            <a:srgbClr val="065A82"/>
          </a:solidFill>
          <a:ln/>
        </p:spPr>
      </p:sp>
      <p:sp>
        <p:nvSpPr>
          <p:cNvPr id="7" name="Text 5"/>
          <p:cNvSpPr txBox="1"/>
          <p:nvPr/>
        </p:nvSpPr>
        <p:spPr>
          <a:xfrm>
            <a:off x="548640" y="1691640"/>
            <a:ext cx="5394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USE CASES</a:t>
            </a:r>
            <a:endParaRPr lang="en-US" sz="1400" dirty="0"/>
          </a:p>
        </p:txBody>
      </p:sp>
      <p:sp>
        <p:nvSpPr>
          <p:cNvPr id="8" name="Shape 6"/>
          <p:cNvSpPr/>
          <p:nvPr/>
        </p:nvSpPr>
        <p:spPr>
          <a:xfrm>
            <a:off x="868680" y="2331720"/>
            <a:ext cx="457200" cy="457200"/>
          </a:xfrm>
          <a:prstGeom prst="ellipse">
            <a:avLst/>
          </a:prstGeom>
          <a:solidFill>
            <a:srgbClr val="1C7293"/>
          </a:solidFill>
          <a:ln/>
        </p:spPr>
      </p:sp>
      <p:sp>
        <p:nvSpPr>
          <p:cNvPr id="9" name="Text 7"/>
          <p:cNvSpPr txBox="1"/>
          <p:nvPr/>
        </p:nvSpPr>
        <p:spPr>
          <a:xfrm>
            <a:off x="868680" y="2331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1508760" y="2286000"/>
            <a:ext cx="4251960" cy="96012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Deploy new application versions with zero downtime using slot swaps.</a:t>
            </a:r>
            <a:endParaRPr lang="en-US" sz="1400" dirty="0"/>
          </a:p>
        </p:txBody>
      </p:sp>
      <p:sp>
        <p:nvSpPr>
          <p:cNvPr id="11" name="Shape 9"/>
          <p:cNvSpPr/>
          <p:nvPr/>
        </p:nvSpPr>
        <p:spPr>
          <a:xfrm>
            <a:off x="868680" y="3474720"/>
            <a:ext cx="457200" cy="457200"/>
          </a:xfrm>
          <a:prstGeom prst="ellipse">
            <a:avLst/>
          </a:prstGeom>
          <a:solidFill>
            <a:srgbClr val="1C7293"/>
          </a:solidFill>
          <a:ln/>
        </p:spPr>
      </p:sp>
      <p:sp>
        <p:nvSpPr>
          <p:cNvPr id="12" name="Text 10"/>
          <p:cNvSpPr txBox="1"/>
          <p:nvPr/>
        </p:nvSpPr>
        <p:spPr>
          <a:xfrm>
            <a:off x="868680" y="3474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508760" y="3429000"/>
            <a:ext cx="4251960" cy="96012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Validate the new version before swapping it into production.</a:t>
            </a:r>
            <a:endParaRPr lang="en-US" sz="1400" dirty="0"/>
          </a:p>
        </p:txBody>
      </p:sp>
      <p:sp>
        <p:nvSpPr>
          <p:cNvPr id="14" name="Shape 12"/>
          <p:cNvSpPr/>
          <p:nvPr/>
        </p:nvSpPr>
        <p:spPr>
          <a:xfrm>
            <a:off x="6217920" y="1691640"/>
            <a:ext cx="5394960" cy="3063240"/>
          </a:xfrm>
          <a:prstGeom prst="roundRect">
            <a:avLst>
              <a:gd name="adj" fmla="val 2985"/>
            </a:avLst>
          </a:prstGeom>
          <a:solidFill>
            <a:srgbClr val="FFFFFF"/>
          </a:solidFill>
          <a:ln w="12700">
            <a:solidFill>
              <a:srgbClr val="DCE6EC"/>
            </a:solidFill>
            <a:prstDash val="solid"/>
          </a:ln>
        </p:spPr>
      </p:sp>
      <p:sp>
        <p:nvSpPr>
          <p:cNvPr id="15" name="Shape 13"/>
          <p:cNvSpPr/>
          <p:nvPr/>
        </p:nvSpPr>
        <p:spPr>
          <a:xfrm>
            <a:off x="6217920" y="1691640"/>
            <a:ext cx="5394960" cy="502920"/>
          </a:xfrm>
          <a:prstGeom prst="roundRect">
            <a:avLst>
              <a:gd name="adj" fmla="val 18182"/>
            </a:avLst>
          </a:prstGeom>
          <a:solidFill>
            <a:srgbClr val="C7511F"/>
          </a:solidFill>
          <a:ln/>
        </p:spPr>
      </p:sp>
      <p:sp>
        <p:nvSpPr>
          <p:cNvPr id="16" name="Text 14"/>
          <p:cNvSpPr txBox="1"/>
          <p:nvPr/>
        </p:nvSpPr>
        <p:spPr>
          <a:xfrm>
            <a:off x="6217920" y="1691640"/>
            <a:ext cx="5394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BOTTLENECKS</a:t>
            </a:r>
            <a:endParaRPr lang="en-US" sz="1400" dirty="0"/>
          </a:p>
        </p:txBody>
      </p:sp>
      <p:sp>
        <p:nvSpPr>
          <p:cNvPr id="17" name="Shape 15"/>
          <p:cNvSpPr/>
          <p:nvPr/>
        </p:nvSpPr>
        <p:spPr>
          <a:xfrm>
            <a:off x="6537960" y="2331720"/>
            <a:ext cx="457200" cy="457200"/>
          </a:xfrm>
          <a:prstGeom prst="ellipse">
            <a:avLst/>
          </a:prstGeom>
          <a:solidFill>
            <a:srgbClr val="C7511F"/>
          </a:solidFill>
          <a:ln/>
        </p:spPr>
      </p:sp>
      <p:sp>
        <p:nvSpPr>
          <p:cNvPr id="18" name="Text 16"/>
          <p:cNvSpPr txBox="1"/>
          <p:nvPr/>
        </p:nvSpPr>
        <p:spPr>
          <a:xfrm>
            <a:off x="6537960" y="2331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9" name="Text 17"/>
          <p:cNvSpPr txBox="1"/>
          <p:nvPr/>
        </p:nvSpPr>
        <p:spPr>
          <a:xfrm>
            <a:off x="7178040" y="2286000"/>
            <a:ext cx="4251960" cy="96012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Slot-specific settings behave unexpectedly after a swap.</a:t>
            </a:r>
            <a:endParaRPr lang="en-US" sz="1400" dirty="0"/>
          </a:p>
        </p:txBody>
      </p:sp>
      <p:sp>
        <p:nvSpPr>
          <p:cNvPr id="20" name="Shape 18"/>
          <p:cNvSpPr/>
          <p:nvPr/>
        </p:nvSpPr>
        <p:spPr>
          <a:xfrm>
            <a:off x="6537960" y="3474720"/>
            <a:ext cx="457200" cy="457200"/>
          </a:xfrm>
          <a:prstGeom prst="ellipse">
            <a:avLst/>
          </a:prstGeom>
          <a:solidFill>
            <a:srgbClr val="C7511F"/>
          </a:solidFill>
          <a:ln/>
        </p:spPr>
      </p:sp>
      <p:sp>
        <p:nvSpPr>
          <p:cNvPr id="21" name="Text 19"/>
          <p:cNvSpPr txBox="1"/>
          <p:nvPr/>
        </p:nvSpPr>
        <p:spPr>
          <a:xfrm>
            <a:off x="6537960" y="3474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txBox="1"/>
          <p:nvPr/>
        </p:nvSpPr>
        <p:spPr>
          <a:xfrm>
            <a:off x="7178040" y="3429000"/>
            <a:ext cx="4251960" cy="96012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Warm-up requirements are not configured before promotion.</a:t>
            </a:r>
            <a:endParaRPr lang="en-US" sz="1400" dirty="0"/>
          </a:p>
        </p:txBody>
      </p:sp>
      <p:sp>
        <p:nvSpPr>
          <p:cNvPr id="24" name="Text 22"/>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25" name="Text 23"/>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WHY IT MATTERS</a:t>
            </a:r>
            <a:endParaRPr lang="en-US" sz="1100" dirty="0"/>
          </a:p>
        </p:txBody>
      </p:sp>
      <p:sp>
        <p:nvSpPr>
          <p:cNvPr id="4" name="Text 2"/>
          <p:cNvSpPr txBox="1"/>
          <p:nvPr/>
        </p:nvSpPr>
        <p:spPr>
          <a:xfrm>
            <a:off x="548640" y="960120"/>
            <a:ext cx="10058400" cy="457200"/>
          </a:xfrm>
          <a:prstGeom prst="rect">
            <a:avLst/>
          </a:prstGeom>
          <a:noFill/>
          <a:ln/>
        </p:spPr>
        <p:txBody>
          <a:bodyPr wrap="square" lIns="0" tIns="0" rIns="0" bIns="0" rtlCol="0" anchor="ctr"/>
          <a:lstStyle/>
          <a:p>
            <a:pPr marL="0" indent="0">
              <a:buNone/>
            </a:pPr>
            <a:r>
              <a:rPr lang="en-US" sz="2400" b="1" dirty="0">
                <a:solidFill>
                  <a:srgbClr val="1A2733"/>
                </a:solidFill>
                <a:latin typeface="Cambria" pitchFamily="34" charset="0"/>
                <a:ea typeface="Cambria" pitchFamily="34" charset="-122"/>
                <a:cs typeface="Cambria" pitchFamily="34" charset="-120"/>
              </a:rPr>
              <a:t>The risk of deploying directly to production</a:t>
            </a:r>
            <a:endParaRPr lang="en-US" sz="2400" dirty="0"/>
          </a:p>
        </p:txBody>
      </p:sp>
      <p:sp>
        <p:nvSpPr>
          <p:cNvPr id="5" name="Shape 3"/>
          <p:cNvSpPr/>
          <p:nvPr/>
        </p:nvSpPr>
        <p:spPr>
          <a:xfrm>
            <a:off x="822960" y="1920240"/>
            <a:ext cx="2743200" cy="868680"/>
          </a:xfrm>
          <a:prstGeom prst="roundRect">
            <a:avLst>
              <a:gd name="adj" fmla="val 9474"/>
            </a:avLst>
          </a:prstGeom>
          <a:solidFill>
            <a:srgbClr val="FCEEE7"/>
          </a:solidFill>
          <a:ln w="12700">
            <a:solidFill>
              <a:srgbClr val="C7511F"/>
            </a:solidFill>
            <a:prstDash val="solid"/>
          </a:ln>
        </p:spPr>
      </p:sp>
      <p:sp>
        <p:nvSpPr>
          <p:cNvPr id="6" name="Text 4"/>
          <p:cNvSpPr txBox="1"/>
          <p:nvPr/>
        </p:nvSpPr>
        <p:spPr>
          <a:xfrm>
            <a:off x="868680" y="1920240"/>
            <a:ext cx="2651760" cy="868680"/>
          </a:xfrm>
          <a:prstGeom prst="rect">
            <a:avLst/>
          </a:prstGeom>
          <a:noFill/>
          <a:ln/>
        </p:spPr>
        <p:txBody>
          <a:bodyPr wrap="square" lIns="0" tIns="0" rIns="0" bIns="0" rtlCol="0" anchor="ctr"/>
          <a:lstStyle/>
          <a:p>
            <a:pPr marL="0" indent="0" algn="ctr">
              <a:buNone/>
            </a:pPr>
            <a:r>
              <a:rPr lang="en-US" sz="1150" b="1" dirty="0">
                <a:solidFill>
                  <a:srgbClr val="C7511F"/>
                </a:solidFill>
                <a:latin typeface="Calibri" pitchFamily="34" charset="0"/>
                <a:ea typeface="Calibri" pitchFamily="34" charset="-122"/>
                <a:cs typeface="Calibri" pitchFamily="34" charset="-120"/>
              </a:rPr>
              <a:t>Version 1</a:t>
            </a:r>
            <a:endParaRPr lang="en-US" sz="1150" dirty="0"/>
          </a:p>
          <a:p>
            <a:pPr marL="0" indent="0" algn="ctr">
              <a:buNone/>
            </a:pPr>
            <a:r>
              <a:rPr lang="en-US" sz="1150" b="1" dirty="0">
                <a:solidFill>
                  <a:srgbClr val="C7511F"/>
                </a:solidFill>
                <a:latin typeface="Calibri" pitchFamily="34" charset="0"/>
                <a:ea typeface="Calibri" pitchFamily="34" charset="-122"/>
                <a:cs typeface="Calibri" pitchFamily="34" charset="-120"/>
              </a:rPr>
              <a:t>Production</a:t>
            </a:r>
            <a:endParaRPr lang="en-US" sz="1150" dirty="0"/>
          </a:p>
        </p:txBody>
      </p:sp>
      <p:sp>
        <p:nvSpPr>
          <p:cNvPr id="7" name="Shape 5"/>
          <p:cNvSpPr/>
          <p:nvPr/>
        </p:nvSpPr>
        <p:spPr>
          <a:xfrm>
            <a:off x="3621024" y="2276856"/>
            <a:ext cx="347472" cy="146304"/>
          </a:xfrm>
          <a:prstGeom prst="rightArrow">
            <a:avLst/>
          </a:prstGeom>
          <a:solidFill>
            <a:srgbClr val="C7511F"/>
          </a:solidFill>
          <a:ln/>
        </p:spPr>
      </p:sp>
      <p:sp>
        <p:nvSpPr>
          <p:cNvPr id="8" name="Shape 6"/>
          <p:cNvSpPr/>
          <p:nvPr/>
        </p:nvSpPr>
        <p:spPr>
          <a:xfrm>
            <a:off x="4023360" y="1920240"/>
            <a:ext cx="2743200" cy="868680"/>
          </a:xfrm>
          <a:prstGeom prst="roundRect">
            <a:avLst>
              <a:gd name="adj" fmla="val 9474"/>
            </a:avLst>
          </a:prstGeom>
          <a:solidFill>
            <a:srgbClr val="FCEEE7"/>
          </a:solidFill>
          <a:ln w="12700">
            <a:solidFill>
              <a:srgbClr val="C7511F"/>
            </a:solidFill>
            <a:prstDash val="solid"/>
          </a:ln>
        </p:spPr>
      </p:sp>
      <p:sp>
        <p:nvSpPr>
          <p:cNvPr id="9" name="Text 7"/>
          <p:cNvSpPr txBox="1"/>
          <p:nvPr/>
        </p:nvSpPr>
        <p:spPr>
          <a:xfrm>
            <a:off x="4069080" y="1920240"/>
            <a:ext cx="2651760" cy="868680"/>
          </a:xfrm>
          <a:prstGeom prst="rect">
            <a:avLst/>
          </a:prstGeom>
          <a:noFill/>
          <a:ln/>
        </p:spPr>
        <p:txBody>
          <a:bodyPr wrap="square" lIns="0" tIns="0" rIns="0" bIns="0" rtlCol="0" anchor="ctr"/>
          <a:lstStyle/>
          <a:p>
            <a:pPr marL="0" indent="0" algn="ctr">
              <a:buNone/>
            </a:pPr>
            <a:r>
              <a:rPr lang="en-US" sz="1150" b="1" dirty="0">
                <a:solidFill>
                  <a:srgbClr val="C7511F"/>
                </a:solidFill>
                <a:latin typeface="Calibri" pitchFamily="34" charset="0"/>
                <a:ea typeface="Calibri" pitchFamily="34" charset="-122"/>
                <a:cs typeface="Calibri" pitchFamily="34" charset="-120"/>
              </a:rPr>
              <a:t>Replace</a:t>
            </a:r>
            <a:endParaRPr lang="en-US" sz="1150" dirty="0"/>
          </a:p>
          <a:p>
            <a:pPr marL="0" indent="0" algn="ctr">
              <a:buNone/>
            </a:pPr>
            <a:r>
              <a:rPr lang="en-US" sz="1150" b="1" dirty="0">
                <a:solidFill>
                  <a:srgbClr val="C7511F"/>
                </a:solidFill>
                <a:latin typeface="Calibri" pitchFamily="34" charset="0"/>
                <a:ea typeface="Calibri" pitchFamily="34" charset="-122"/>
                <a:cs typeface="Calibri" pitchFamily="34" charset="-120"/>
              </a:rPr>
              <a:t>Application</a:t>
            </a:r>
            <a:endParaRPr lang="en-US" sz="1150" dirty="0"/>
          </a:p>
        </p:txBody>
      </p:sp>
      <p:sp>
        <p:nvSpPr>
          <p:cNvPr id="10" name="Shape 8"/>
          <p:cNvSpPr/>
          <p:nvPr/>
        </p:nvSpPr>
        <p:spPr>
          <a:xfrm>
            <a:off x="6821424" y="2276856"/>
            <a:ext cx="347472" cy="146304"/>
          </a:xfrm>
          <a:prstGeom prst="rightArrow">
            <a:avLst/>
          </a:prstGeom>
          <a:solidFill>
            <a:srgbClr val="C7511F"/>
          </a:solidFill>
          <a:ln/>
        </p:spPr>
      </p:sp>
      <p:sp>
        <p:nvSpPr>
          <p:cNvPr id="11" name="Shape 9"/>
          <p:cNvSpPr/>
          <p:nvPr/>
        </p:nvSpPr>
        <p:spPr>
          <a:xfrm>
            <a:off x="7223760" y="1920240"/>
            <a:ext cx="2743200" cy="868680"/>
          </a:xfrm>
          <a:prstGeom prst="roundRect">
            <a:avLst>
              <a:gd name="adj" fmla="val 9474"/>
            </a:avLst>
          </a:prstGeom>
          <a:solidFill>
            <a:srgbClr val="FCEEE7"/>
          </a:solidFill>
          <a:ln w="12700">
            <a:solidFill>
              <a:srgbClr val="C7511F"/>
            </a:solidFill>
            <a:prstDash val="solid"/>
          </a:ln>
        </p:spPr>
      </p:sp>
      <p:sp>
        <p:nvSpPr>
          <p:cNvPr id="12" name="Text 10"/>
          <p:cNvSpPr txBox="1"/>
          <p:nvPr/>
        </p:nvSpPr>
        <p:spPr>
          <a:xfrm>
            <a:off x="7269480" y="1920240"/>
            <a:ext cx="2651760" cy="868680"/>
          </a:xfrm>
          <a:prstGeom prst="rect">
            <a:avLst/>
          </a:prstGeom>
          <a:noFill/>
          <a:ln/>
        </p:spPr>
        <p:txBody>
          <a:bodyPr wrap="square" lIns="0" tIns="0" rIns="0" bIns="0" rtlCol="0" anchor="ctr"/>
          <a:lstStyle/>
          <a:p>
            <a:pPr marL="0" indent="0" algn="ctr">
              <a:buNone/>
            </a:pPr>
            <a:r>
              <a:rPr lang="en-US" sz="1150" b="1" dirty="0">
                <a:solidFill>
                  <a:srgbClr val="C7511F"/>
                </a:solidFill>
                <a:latin typeface="Calibri" pitchFamily="34" charset="0"/>
                <a:ea typeface="Calibri" pitchFamily="34" charset="-122"/>
                <a:cs typeface="Calibri" pitchFamily="34" charset="-120"/>
              </a:rPr>
              <a:t>Version 2</a:t>
            </a:r>
            <a:endParaRPr lang="en-US" sz="1150" dirty="0"/>
          </a:p>
          <a:p>
            <a:pPr marL="0" indent="0" algn="ctr">
              <a:buNone/>
            </a:pPr>
            <a:r>
              <a:rPr lang="en-US" sz="1150" b="1" dirty="0">
                <a:solidFill>
                  <a:srgbClr val="C7511F"/>
                </a:solidFill>
                <a:latin typeface="Calibri" pitchFamily="34" charset="0"/>
                <a:ea typeface="Calibri" pitchFamily="34" charset="-122"/>
                <a:cs typeface="Calibri" pitchFamily="34" charset="-120"/>
              </a:rPr>
              <a:t>(untested)</a:t>
            </a:r>
            <a:endParaRPr lang="en-US" sz="1150" dirty="0"/>
          </a:p>
        </p:txBody>
      </p:sp>
      <p:sp>
        <p:nvSpPr>
          <p:cNvPr id="13" name="Shape 11"/>
          <p:cNvSpPr/>
          <p:nvPr/>
        </p:nvSpPr>
        <p:spPr>
          <a:xfrm>
            <a:off x="822960" y="3246120"/>
            <a:ext cx="109728" cy="109728"/>
          </a:xfrm>
          <a:prstGeom prst="ellipse">
            <a:avLst/>
          </a:prstGeom>
          <a:solidFill>
            <a:srgbClr val="C7511F"/>
          </a:solidFill>
          <a:ln/>
        </p:spPr>
      </p:sp>
      <p:sp>
        <p:nvSpPr>
          <p:cNvPr id="14" name="Text 12"/>
          <p:cNvSpPr txBox="1"/>
          <p:nvPr/>
        </p:nvSpPr>
        <p:spPr>
          <a:xfrm>
            <a:off x="1051560" y="3108960"/>
            <a:ext cx="4754880" cy="45720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Application may not be ready for live traffic</a:t>
            </a:r>
            <a:endParaRPr lang="en-US" sz="1250" dirty="0"/>
          </a:p>
        </p:txBody>
      </p:sp>
      <p:sp>
        <p:nvSpPr>
          <p:cNvPr id="15" name="Shape 13"/>
          <p:cNvSpPr/>
          <p:nvPr/>
        </p:nvSpPr>
        <p:spPr>
          <a:xfrm>
            <a:off x="5943600" y="3246120"/>
            <a:ext cx="109728" cy="109728"/>
          </a:xfrm>
          <a:prstGeom prst="ellipse">
            <a:avLst/>
          </a:prstGeom>
          <a:solidFill>
            <a:srgbClr val="C7511F"/>
          </a:solidFill>
          <a:ln/>
        </p:spPr>
      </p:sp>
      <p:sp>
        <p:nvSpPr>
          <p:cNvPr id="16" name="Text 14"/>
          <p:cNvSpPr txBox="1"/>
          <p:nvPr/>
        </p:nvSpPr>
        <p:spPr>
          <a:xfrm>
            <a:off x="6172200" y="3108960"/>
            <a:ext cx="4754880" cy="45720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Configuration issues surface only after go-live</a:t>
            </a:r>
            <a:endParaRPr lang="en-US" sz="1250" dirty="0"/>
          </a:p>
        </p:txBody>
      </p:sp>
      <p:sp>
        <p:nvSpPr>
          <p:cNvPr id="17" name="Shape 15"/>
          <p:cNvSpPr/>
          <p:nvPr/>
        </p:nvSpPr>
        <p:spPr>
          <a:xfrm>
            <a:off x="822960" y="3749040"/>
            <a:ext cx="109728" cy="109728"/>
          </a:xfrm>
          <a:prstGeom prst="ellipse">
            <a:avLst/>
          </a:prstGeom>
          <a:solidFill>
            <a:srgbClr val="C7511F"/>
          </a:solidFill>
          <a:ln/>
        </p:spPr>
      </p:sp>
      <p:sp>
        <p:nvSpPr>
          <p:cNvPr id="18" name="Text 16"/>
          <p:cNvSpPr txBox="1"/>
          <p:nvPr/>
        </p:nvSpPr>
        <p:spPr>
          <a:xfrm>
            <a:off x="1051560" y="3611880"/>
            <a:ext cx="4754880" cy="45720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Insufficient pre-production validation</a:t>
            </a:r>
            <a:endParaRPr lang="en-US" sz="1250" dirty="0"/>
          </a:p>
        </p:txBody>
      </p:sp>
      <p:sp>
        <p:nvSpPr>
          <p:cNvPr id="19" name="Shape 17"/>
          <p:cNvSpPr/>
          <p:nvPr/>
        </p:nvSpPr>
        <p:spPr>
          <a:xfrm>
            <a:off x="5943600" y="3749040"/>
            <a:ext cx="109728" cy="109728"/>
          </a:xfrm>
          <a:prstGeom prst="ellipse">
            <a:avLst/>
          </a:prstGeom>
          <a:solidFill>
            <a:srgbClr val="C7511F"/>
          </a:solidFill>
          <a:ln/>
        </p:spPr>
      </p:sp>
      <p:sp>
        <p:nvSpPr>
          <p:cNvPr id="20" name="Text 18"/>
          <p:cNvSpPr txBox="1"/>
          <p:nvPr/>
        </p:nvSpPr>
        <p:spPr>
          <a:xfrm>
            <a:off x="6172200" y="3611880"/>
            <a:ext cx="4754880" cy="45720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Real risk of deployment interruption</a:t>
            </a:r>
            <a:endParaRPr lang="en-US" sz="1250" dirty="0"/>
          </a:p>
        </p:txBody>
      </p:sp>
      <p:sp>
        <p:nvSpPr>
          <p:cNvPr id="21" name="Shape 19"/>
          <p:cNvSpPr/>
          <p:nvPr/>
        </p:nvSpPr>
        <p:spPr>
          <a:xfrm>
            <a:off x="548640" y="4434840"/>
            <a:ext cx="11064240" cy="0"/>
          </a:xfrm>
          <a:prstGeom prst="line">
            <a:avLst/>
          </a:prstGeom>
          <a:noFill/>
          <a:ln w="12700">
            <a:solidFill>
              <a:srgbClr val="D6E0E6"/>
            </a:solidFill>
            <a:prstDash val="dash"/>
          </a:ln>
        </p:spPr>
      </p:sp>
      <p:sp>
        <p:nvSpPr>
          <p:cNvPr id="22" name="Text 20"/>
          <p:cNvSpPr txBox="1"/>
          <p:nvPr/>
        </p:nvSpPr>
        <p:spPr>
          <a:xfrm>
            <a:off x="548640" y="4617720"/>
            <a:ext cx="7315200" cy="365760"/>
          </a:xfrm>
          <a:prstGeom prst="rect">
            <a:avLst/>
          </a:prstGeom>
          <a:noFill/>
          <a:ln/>
        </p:spPr>
        <p:txBody>
          <a:bodyPr wrap="square" lIns="0" tIns="0" rIns="0" bIns="0" rtlCol="0" anchor="ctr"/>
          <a:lstStyle/>
          <a:p>
            <a:pPr marL="0" indent="0">
              <a:buNone/>
            </a:pPr>
            <a:r>
              <a:rPr lang="en-US" sz="1300" b="1" kern="0" spc="100" dirty="0">
                <a:solidFill>
                  <a:srgbClr val="065A82"/>
                </a:solidFill>
                <a:latin typeface="Calibri" pitchFamily="34" charset="0"/>
                <a:ea typeface="Calibri" pitchFamily="34" charset="-122"/>
                <a:cs typeface="Calibri" pitchFamily="34" charset="-120"/>
              </a:rPr>
              <a:t>OUR APPROACH: VALIDATE BEFORE YOU SWITCH</a:t>
            </a:r>
            <a:endParaRPr lang="en-US" sz="1300" dirty="0"/>
          </a:p>
        </p:txBody>
      </p:sp>
      <p:sp>
        <p:nvSpPr>
          <p:cNvPr id="23" name="Shape 21"/>
          <p:cNvSpPr/>
          <p:nvPr/>
        </p:nvSpPr>
        <p:spPr>
          <a:xfrm>
            <a:off x="822960" y="5074920"/>
            <a:ext cx="2514600" cy="868680"/>
          </a:xfrm>
          <a:prstGeom prst="roundRect">
            <a:avLst>
              <a:gd name="adj" fmla="val 9474"/>
            </a:avLst>
          </a:prstGeom>
          <a:solidFill>
            <a:srgbClr val="E7F3EF"/>
          </a:solidFill>
          <a:ln w="12700">
            <a:solidFill>
              <a:srgbClr val="21C3A4"/>
            </a:solidFill>
            <a:prstDash val="solid"/>
          </a:ln>
        </p:spPr>
      </p:sp>
      <p:sp>
        <p:nvSpPr>
          <p:cNvPr id="24" name="Text 22"/>
          <p:cNvSpPr txBox="1"/>
          <p:nvPr/>
        </p:nvSpPr>
        <p:spPr>
          <a:xfrm>
            <a:off x="868680" y="5074920"/>
            <a:ext cx="2423160" cy="868680"/>
          </a:xfrm>
          <a:prstGeom prst="rect">
            <a:avLst/>
          </a:prstGeom>
          <a:noFill/>
          <a:ln/>
        </p:spPr>
        <p:txBody>
          <a:bodyPr wrap="square" lIns="0" tIns="0" rIns="0" bIns="0" rtlCol="0" anchor="ctr"/>
          <a:lstStyle/>
          <a:p>
            <a:pPr marL="0" indent="0" algn="ctr">
              <a:buNone/>
            </a:pPr>
            <a:r>
              <a:rPr lang="en-US" sz="1150" b="1" dirty="0">
                <a:solidFill>
                  <a:srgbClr val="065A82"/>
                </a:solidFill>
                <a:latin typeface="Calibri" pitchFamily="34" charset="0"/>
                <a:ea typeface="Calibri" pitchFamily="34" charset="-122"/>
                <a:cs typeface="Calibri" pitchFamily="34" charset="-120"/>
              </a:rPr>
              <a:t>Version 2</a:t>
            </a:r>
            <a:endParaRPr lang="en-US" sz="1150" dirty="0"/>
          </a:p>
          <a:p>
            <a:pPr marL="0" indent="0" algn="ctr">
              <a:buNone/>
            </a:pPr>
            <a:r>
              <a:rPr lang="en-US" sz="1150" b="1" dirty="0">
                <a:solidFill>
                  <a:srgbClr val="065A82"/>
                </a:solidFill>
                <a:latin typeface="Calibri" pitchFamily="34" charset="0"/>
                <a:ea typeface="Calibri" pitchFamily="34" charset="-122"/>
                <a:cs typeface="Calibri" pitchFamily="34" charset="-120"/>
              </a:rPr>
              <a:t>Staging</a:t>
            </a:r>
            <a:endParaRPr lang="en-US" sz="1150" dirty="0"/>
          </a:p>
        </p:txBody>
      </p:sp>
      <p:sp>
        <p:nvSpPr>
          <p:cNvPr id="25" name="Shape 23"/>
          <p:cNvSpPr/>
          <p:nvPr/>
        </p:nvSpPr>
        <p:spPr>
          <a:xfrm>
            <a:off x="3364992" y="5431536"/>
            <a:ext cx="265176" cy="146304"/>
          </a:xfrm>
          <a:prstGeom prst="rightArrow">
            <a:avLst/>
          </a:prstGeom>
          <a:solidFill>
            <a:srgbClr val="21C3A4"/>
          </a:solidFill>
          <a:ln/>
        </p:spPr>
      </p:sp>
      <p:sp>
        <p:nvSpPr>
          <p:cNvPr id="26" name="Shape 24"/>
          <p:cNvSpPr/>
          <p:nvPr/>
        </p:nvSpPr>
        <p:spPr>
          <a:xfrm>
            <a:off x="3657600" y="5074920"/>
            <a:ext cx="2514600" cy="868680"/>
          </a:xfrm>
          <a:prstGeom prst="roundRect">
            <a:avLst>
              <a:gd name="adj" fmla="val 9474"/>
            </a:avLst>
          </a:prstGeom>
          <a:solidFill>
            <a:srgbClr val="E7F3EF"/>
          </a:solidFill>
          <a:ln w="12700">
            <a:solidFill>
              <a:srgbClr val="21C3A4"/>
            </a:solidFill>
            <a:prstDash val="solid"/>
          </a:ln>
        </p:spPr>
      </p:sp>
      <p:sp>
        <p:nvSpPr>
          <p:cNvPr id="27" name="Text 25"/>
          <p:cNvSpPr txBox="1"/>
          <p:nvPr/>
        </p:nvSpPr>
        <p:spPr>
          <a:xfrm>
            <a:off x="3703320" y="5074920"/>
            <a:ext cx="2423160" cy="868680"/>
          </a:xfrm>
          <a:prstGeom prst="rect">
            <a:avLst/>
          </a:prstGeom>
          <a:noFill/>
          <a:ln/>
        </p:spPr>
        <p:txBody>
          <a:bodyPr wrap="square" lIns="0" tIns="0" rIns="0" bIns="0" rtlCol="0" anchor="ctr"/>
          <a:lstStyle/>
          <a:p>
            <a:pPr marL="0" indent="0" algn="ctr">
              <a:buNone/>
            </a:pPr>
            <a:r>
              <a:rPr lang="en-US" sz="1150" b="1" dirty="0">
                <a:solidFill>
                  <a:srgbClr val="065A82"/>
                </a:solidFill>
                <a:latin typeface="Calibri" pitchFamily="34" charset="0"/>
                <a:ea typeface="Calibri" pitchFamily="34" charset="-122"/>
                <a:cs typeface="Calibri" pitchFamily="34" charset="-120"/>
              </a:rPr>
              <a:t>Health Check</a:t>
            </a:r>
            <a:endParaRPr lang="en-US" sz="1150" dirty="0"/>
          </a:p>
          <a:p>
            <a:pPr marL="0" indent="0" algn="ctr">
              <a:buNone/>
            </a:pPr>
            <a:r>
              <a:rPr lang="en-US" sz="1150" b="1" dirty="0">
                <a:solidFill>
                  <a:srgbClr val="065A82"/>
                </a:solidFill>
                <a:latin typeface="Calibri" pitchFamily="34" charset="0"/>
                <a:ea typeface="Calibri" pitchFamily="34" charset="-122"/>
                <a:cs typeface="Calibri" pitchFamily="34" charset="-120"/>
              </a:rPr>
              <a:t>+ Warm-up</a:t>
            </a:r>
            <a:endParaRPr lang="en-US" sz="1150" dirty="0"/>
          </a:p>
        </p:txBody>
      </p:sp>
      <p:sp>
        <p:nvSpPr>
          <p:cNvPr id="28" name="Shape 26"/>
          <p:cNvSpPr/>
          <p:nvPr/>
        </p:nvSpPr>
        <p:spPr>
          <a:xfrm>
            <a:off x="6199632" y="5431536"/>
            <a:ext cx="265176" cy="146304"/>
          </a:xfrm>
          <a:prstGeom prst="rightArrow">
            <a:avLst/>
          </a:prstGeom>
          <a:solidFill>
            <a:srgbClr val="21C3A4"/>
          </a:solidFill>
          <a:ln/>
        </p:spPr>
      </p:sp>
      <p:sp>
        <p:nvSpPr>
          <p:cNvPr id="29" name="Shape 27"/>
          <p:cNvSpPr/>
          <p:nvPr/>
        </p:nvSpPr>
        <p:spPr>
          <a:xfrm>
            <a:off x="6492240" y="5074920"/>
            <a:ext cx="2514600" cy="868680"/>
          </a:xfrm>
          <a:prstGeom prst="roundRect">
            <a:avLst>
              <a:gd name="adj" fmla="val 9474"/>
            </a:avLst>
          </a:prstGeom>
          <a:solidFill>
            <a:srgbClr val="E7F3EF"/>
          </a:solidFill>
          <a:ln w="12700">
            <a:solidFill>
              <a:srgbClr val="21C3A4"/>
            </a:solidFill>
            <a:prstDash val="solid"/>
          </a:ln>
        </p:spPr>
      </p:sp>
      <p:sp>
        <p:nvSpPr>
          <p:cNvPr id="30" name="Text 28"/>
          <p:cNvSpPr txBox="1"/>
          <p:nvPr/>
        </p:nvSpPr>
        <p:spPr>
          <a:xfrm>
            <a:off x="6537960" y="5074920"/>
            <a:ext cx="2423160" cy="868680"/>
          </a:xfrm>
          <a:prstGeom prst="rect">
            <a:avLst/>
          </a:prstGeom>
          <a:noFill/>
          <a:ln/>
        </p:spPr>
        <p:txBody>
          <a:bodyPr wrap="square" lIns="0" tIns="0" rIns="0" bIns="0" rtlCol="0" anchor="ctr"/>
          <a:lstStyle/>
          <a:p>
            <a:pPr marL="0" indent="0" algn="ctr">
              <a:buNone/>
            </a:pPr>
            <a:r>
              <a:rPr lang="en-US" sz="1150" b="1" dirty="0">
                <a:solidFill>
                  <a:srgbClr val="065A82"/>
                </a:solidFill>
                <a:latin typeface="Calibri" pitchFamily="34" charset="0"/>
                <a:ea typeface="Calibri" pitchFamily="34" charset="-122"/>
                <a:cs typeface="Calibri" pitchFamily="34" charset="-120"/>
              </a:rPr>
              <a:t>Validated</a:t>
            </a:r>
            <a:endParaRPr lang="en-US" sz="1150" dirty="0"/>
          </a:p>
          <a:p>
            <a:pPr marL="0" indent="0" algn="ctr">
              <a:buNone/>
            </a:pPr>
            <a:r>
              <a:rPr lang="en-US" sz="1150" b="1" dirty="0">
                <a:solidFill>
                  <a:srgbClr val="065A82"/>
                </a:solidFill>
                <a:latin typeface="Calibri" pitchFamily="34" charset="0"/>
                <a:ea typeface="Calibri" pitchFamily="34" charset="-122"/>
                <a:cs typeface="Calibri" pitchFamily="34" charset="-120"/>
              </a:rPr>
              <a:t>Swap</a:t>
            </a:r>
            <a:endParaRPr lang="en-US" sz="1150" dirty="0"/>
          </a:p>
        </p:txBody>
      </p:sp>
      <p:sp>
        <p:nvSpPr>
          <p:cNvPr id="31" name="Shape 29"/>
          <p:cNvSpPr/>
          <p:nvPr/>
        </p:nvSpPr>
        <p:spPr>
          <a:xfrm>
            <a:off x="9034272" y="5431536"/>
            <a:ext cx="265176" cy="146304"/>
          </a:xfrm>
          <a:prstGeom prst="rightArrow">
            <a:avLst/>
          </a:prstGeom>
          <a:solidFill>
            <a:srgbClr val="21C3A4"/>
          </a:solidFill>
          <a:ln/>
        </p:spPr>
      </p:sp>
      <p:sp>
        <p:nvSpPr>
          <p:cNvPr id="32" name="Shape 30"/>
          <p:cNvSpPr/>
          <p:nvPr/>
        </p:nvSpPr>
        <p:spPr>
          <a:xfrm>
            <a:off x="9326880" y="5074920"/>
            <a:ext cx="2514600" cy="868680"/>
          </a:xfrm>
          <a:prstGeom prst="roundRect">
            <a:avLst>
              <a:gd name="adj" fmla="val 9474"/>
            </a:avLst>
          </a:prstGeom>
          <a:solidFill>
            <a:srgbClr val="E7F3EF"/>
          </a:solidFill>
          <a:ln w="12700">
            <a:solidFill>
              <a:srgbClr val="21C3A4"/>
            </a:solidFill>
            <a:prstDash val="solid"/>
          </a:ln>
        </p:spPr>
      </p:sp>
      <p:sp>
        <p:nvSpPr>
          <p:cNvPr id="33" name="Text 31"/>
          <p:cNvSpPr txBox="1"/>
          <p:nvPr/>
        </p:nvSpPr>
        <p:spPr>
          <a:xfrm>
            <a:off x="9372600" y="5074920"/>
            <a:ext cx="2423160" cy="868680"/>
          </a:xfrm>
          <a:prstGeom prst="rect">
            <a:avLst/>
          </a:prstGeom>
          <a:noFill/>
          <a:ln/>
        </p:spPr>
        <p:txBody>
          <a:bodyPr wrap="square" lIns="0" tIns="0" rIns="0" bIns="0" rtlCol="0" anchor="ctr"/>
          <a:lstStyle/>
          <a:p>
            <a:pPr marL="0" indent="0" algn="ctr">
              <a:buNone/>
            </a:pPr>
            <a:r>
              <a:rPr lang="en-US" sz="1150" b="1" dirty="0">
                <a:solidFill>
                  <a:srgbClr val="065A82"/>
                </a:solidFill>
                <a:latin typeface="Calibri" pitchFamily="34" charset="0"/>
                <a:ea typeface="Calibri" pitchFamily="34" charset="-122"/>
                <a:cs typeface="Calibri" pitchFamily="34" charset="-120"/>
              </a:rPr>
              <a:t>Version 2</a:t>
            </a:r>
            <a:endParaRPr lang="en-US" sz="1150" dirty="0"/>
          </a:p>
          <a:p>
            <a:pPr marL="0" indent="0" algn="ctr">
              <a:buNone/>
            </a:pPr>
            <a:r>
              <a:rPr lang="en-US" sz="1150" b="1" dirty="0">
                <a:solidFill>
                  <a:srgbClr val="065A82"/>
                </a:solidFill>
                <a:latin typeface="Calibri" pitchFamily="34" charset="0"/>
                <a:ea typeface="Calibri" pitchFamily="34" charset="-122"/>
                <a:cs typeface="Calibri" pitchFamily="34" charset="-120"/>
              </a:rPr>
              <a:t>Production</a:t>
            </a:r>
            <a:endParaRPr lang="en-US" sz="1150" dirty="0"/>
          </a:p>
        </p:txBody>
      </p:sp>
      <p:sp>
        <p:nvSpPr>
          <p:cNvPr id="34" name="Text 32"/>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35" name="Text 33"/>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PROPOSED SOLUTION</a:t>
            </a:r>
            <a:endParaRPr lang="en-US" sz="1100" dirty="0"/>
          </a:p>
        </p:txBody>
      </p:sp>
      <p:sp>
        <p:nvSpPr>
          <p:cNvPr id="4" name="Text 2"/>
          <p:cNvSpPr txBox="1"/>
          <p:nvPr/>
        </p:nvSpPr>
        <p:spPr>
          <a:xfrm>
            <a:off x="548640" y="960120"/>
            <a:ext cx="10058400" cy="457200"/>
          </a:xfrm>
          <a:prstGeom prst="rect">
            <a:avLst/>
          </a:prstGeom>
          <a:noFill/>
          <a:ln/>
        </p:spPr>
        <p:txBody>
          <a:bodyPr wrap="square" lIns="0" tIns="0" rIns="0" bIns="0" rtlCol="0" anchor="ctr"/>
          <a:lstStyle/>
          <a:p>
            <a:pPr marL="0" indent="0">
              <a:buNone/>
            </a:pPr>
            <a:r>
              <a:rPr lang="en-US" sz="2400" b="1" dirty="0">
                <a:solidFill>
                  <a:srgbClr val="1A2733"/>
                </a:solidFill>
                <a:latin typeface="Cambria" pitchFamily="34" charset="0"/>
                <a:ea typeface="Cambria" pitchFamily="34" charset="-122"/>
                <a:cs typeface="Cambria" pitchFamily="34" charset="-120"/>
              </a:rPr>
              <a:t>Staged release, validated before promotion</a:t>
            </a:r>
            <a:endParaRPr lang="en-US" sz="2400" dirty="0"/>
          </a:p>
        </p:txBody>
      </p:sp>
      <p:sp>
        <p:nvSpPr>
          <p:cNvPr id="5" name="Shape 3"/>
          <p:cNvSpPr/>
          <p:nvPr/>
        </p:nvSpPr>
        <p:spPr>
          <a:xfrm>
            <a:off x="548640" y="1691640"/>
            <a:ext cx="2514600" cy="457200"/>
          </a:xfrm>
          <a:prstGeom prst="roundRect">
            <a:avLst>
              <a:gd name="adj" fmla="val 18000"/>
            </a:avLst>
          </a:prstGeom>
          <a:solidFill>
            <a:srgbClr val="FFFFFF"/>
          </a:solidFill>
          <a:ln w="12700">
            <a:solidFill>
              <a:srgbClr val="D6E0E6"/>
            </a:solidFill>
            <a:prstDash val="solid"/>
          </a:ln>
        </p:spPr>
      </p:sp>
      <p:sp>
        <p:nvSpPr>
          <p:cNvPr id="6" name="Text 4"/>
          <p:cNvSpPr txBox="1"/>
          <p:nvPr/>
        </p:nvSpPr>
        <p:spPr>
          <a:xfrm>
            <a:off x="594360" y="169164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Code</a:t>
            </a:r>
            <a:endParaRPr lang="en-US" sz="1300" dirty="0"/>
          </a:p>
        </p:txBody>
      </p:sp>
      <p:sp>
        <p:nvSpPr>
          <p:cNvPr id="7" name="Text 5"/>
          <p:cNvSpPr txBox="1"/>
          <p:nvPr/>
        </p:nvSpPr>
        <p:spPr>
          <a:xfrm>
            <a:off x="621792" y="219456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Developer commits to GitHub</a:t>
            </a:r>
            <a:endParaRPr lang="en-US" sz="1050" dirty="0"/>
          </a:p>
        </p:txBody>
      </p:sp>
      <p:sp>
        <p:nvSpPr>
          <p:cNvPr id="8" name="Shape 6"/>
          <p:cNvSpPr/>
          <p:nvPr/>
        </p:nvSpPr>
        <p:spPr>
          <a:xfrm>
            <a:off x="548640" y="2148840"/>
            <a:ext cx="2514600" cy="914400"/>
          </a:xfrm>
          <a:prstGeom prst="roundRect">
            <a:avLst>
              <a:gd name="adj" fmla="val 6000"/>
            </a:avLst>
          </a:prstGeom>
          <a:solidFill>
            <a:srgbClr val="FFFFFF"/>
          </a:solidFill>
          <a:ln w="12700">
            <a:solidFill>
              <a:srgbClr val="DCE6EC"/>
            </a:solidFill>
            <a:prstDash val="solid"/>
          </a:ln>
        </p:spPr>
      </p:sp>
      <p:sp>
        <p:nvSpPr>
          <p:cNvPr id="9" name="Text 7"/>
          <p:cNvSpPr txBox="1"/>
          <p:nvPr/>
        </p:nvSpPr>
        <p:spPr>
          <a:xfrm>
            <a:off x="621792" y="214884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Developer commits to GitHub</a:t>
            </a:r>
            <a:endParaRPr lang="en-US" sz="1050" dirty="0"/>
          </a:p>
        </p:txBody>
      </p:sp>
      <p:sp>
        <p:nvSpPr>
          <p:cNvPr id="10" name="Shape 8"/>
          <p:cNvSpPr/>
          <p:nvPr/>
        </p:nvSpPr>
        <p:spPr>
          <a:xfrm>
            <a:off x="3090672" y="1874520"/>
            <a:ext cx="201168" cy="146304"/>
          </a:xfrm>
          <a:prstGeom prst="rightArrow">
            <a:avLst/>
          </a:prstGeom>
          <a:solidFill>
            <a:srgbClr val="1C7293"/>
          </a:solidFill>
          <a:ln/>
        </p:spPr>
      </p:sp>
      <p:sp>
        <p:nvSpPr>
          <p:cNvPr id="11" name="Shape 9"/>
          <p:cNvSpPr/>
          <p:nvPr/>
        </p:nvSpPr>
        <p:spPr>
          <a:xfrm>
            <a:off x="3319272" y="1691640"/>
            <a:ext cx="2514600" cy="457200"/>
          </a:xfrm>
          <a:prstGeom prst="roundRect">
            <a:avLst>
              <a:gd name="adj" fmla="val 18000"/>
            </a:avLst>
          </a:prstGeom>
          <a:solidFill>
            <a:srgbClr val="FFFFFF"/>
          </a:solidFill>
          <a:ln w="12700">
            <a:solidFill>
              <a:srgbClr val="D6E0E6"/>
            </a:solidFill>
            <a:prstDash val="solid"/>
          </a:ln>
        </p:spPr>
      </p:sp>
      <p:sp>
        <p:nvSpPr>
          <p:cNvPr id="12" name="Text 10"/>
          <p:cNvSpPr txBox="1"/>
          <p:nvPr/>
        </p:nvSpPr>
        <p:spPr>
          <a:xfrm>
            <a:off x="3364992" y="169164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Build</a:t>
            </a:r>
            <a:endParaRPr lang="en-US" sz="1300" dirty="0"/>
          </a:p>
        </p:txBody>
      </p:sp>
      <p:sp>
        <p:nvSpPr>
          <p:cNvPr id="13" name="Text 11"/>
          <p:cNvSpPr txBox="1"/>
          <p:nvPr/>
        </p:nvSpPr>
        <p:spPr>
          <a:xfrm>
            <a:off x="3392424" y="219456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Maven builds the Spring Boot JAR</a:t>
            </a:r>
            <a:endParaRPr lang="en-US" sz="1050" dirty="0"/>
          </a:p>
        </p:txBody>
      </p:sp>
      <p:sp>
        <p:nvSpPr>
          <p:cNvPr id="14" name="Shape 12"/>
          <p:cNvSpPr/>
          <p:nvPr/>
        </p:nvSpPr>
        <p:spPr>
          <a:xfrm>
            <a:off x="3319272" y="2148840"/>
            <a:ext cx="2514600" cy="914400"/>
          </a:xfrm>
          <a:prstGeom prst="roundRect">
            <a:avLst>
              <a:gd name="adj" fmla="val 6000"/>
            </a:avLst>
          </a:prstGeom>
          <a:solidFill>
            <a:srgbClr val="FFFFFF"/>
          </a:solidFill>
          <a:ln w="12700">
            <a:solidFill>
              <a:srgbClr val="DCE6EC"/>
            </a:solidFill>
            <a:prstDash val="solid"/>
          </a:ln>
        </p:spPr>
      </p:sp>
      <p:sp>
        <p:nvSpPr>
          <p:cNvPr id="15" name="Text 13"/>
          <p:cNvSpPr txBox="1"/>
          <p:nvPr/>
        </p:nvSpPr>
        <p:spPr>
          <a:xfrm>
            <a:off x="3392424" y="214884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Maven builds the Spring Boot JAR</a:t>
            </a:r>
            <a:endParaRPr lang="en-US" sz="1050" dirty="0"/>
          </a:p>
        </p:txBody>
      </p:sp>
      <p:sp>
        <p:nvSpPr>
          <p:cNvPr id="16" name="Shape 14"/>
          <p:cNvSpPr/>
          <p:nvPr/>
        </p:nvSpPr>
        <p:spPr>
          <a:xfrm>
            <a:off x="5861304" y="1874520"/>
            <a:ext cx="201168" cy="146304"/>
          </a:xfrm>
          <a:prstGeom prst="rightArrow">
            <a:avLst/>
          </a:prstGeom>
          <a:solidFill>
            <a:srgbClr val="1C7293"/>
          </a:solidFill>
          <a:ln/>
        </p:spPr>
      </p:sp>
      <p:sp>
        <p:nvSpPr>
          <p:cNvPr id="17" name="Shape 15"/>
          <p:cNvSpPr/>
          <p:nvPr/>
        </p:nvSpPr>
        <p:spPr>
          <a:xfrm>
            <a:off x="6089904" y="1691640"/>
            <a:ext cx="2514600" cy="457200"/>
          </a:xfrm>
          <a:prstGeom prst="roundRect">
            <a:avLst>
              <a:gd name="adj" fmla="val 18000"/>
            </a:avLst>
          </a:prstGeom>
          <a:solidFill>
            <a:srgbClr val="FFFFFF"/>
          </a:solidFill>
          <a:ln w="12700">
            <a:solidFill>
              <a:srgbClr val="D6E0E6"/>
            </a:solidFill>
            <a:prstDash val="solid"/>
          </a:ln>
        </p:spPr>
      </p:sp>
      <p:sp>
        <p:nvSpPr>
          <p:cNvPr id="18" name="Text 16"/>
          <p:cNvSpPr txBox="1"/>
          <p:nvPr/>
        </p:nvSpPr>
        <p:spPr>
          <a:xfrm>
            <a:off x="6135624" y="169164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Deploy to Staging</a:t>
            </a:r>
            <a:endParaRPr lang="en-US" sz="1300" dirty="0"/>
          </a:p>
        </p:txBody>
      </p:sp>
      <p:sp>
        <p:nvSpPr>
          <p:cNvPr id="19" name="Text 17"/>
          <p:cNvSpPr txBox="1"/>
          <p:nvPr/>
        </p:nvSpPr>
        <p:spPr>
          <a:xfrm>
            <a:off x="6163056" y="219456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New version deployed to staging slot</a:t>
            </a:r>
            <a:endParaRPr lang="en-US" sz="1050" dirty="0"/>
          </a:p>
        </p:txBody>
      </p:sp>
      <p:sp>
        <p:nvSpPr>
          <p:cNvPr id="20" name="Shape 18"/>
          <p:cNvSpPr/>
          <p:nvPr/>
        </p:nvSpPr>
        <p:spPr>
          <a:xfrm>
            <a:off x="6089904" y="2148840"/>
            <a:ext cx="2514600" cy="914400"/>
          </a:xfrm>
          <a:prstGeom prst="roundRect">
            <a:avLst>
              <a:gd name="adj" fmla="val 6000"/>
            </a:avLst>
          </a:prstGeom>
          <a:solidFill>
            <a:srgbClr val="FFFFFF"/>
          </a:solidFill>
          <a:ln w="12700">
            <a:solidFill>
              <a:srgbClr val="DCE6EC"/>
            </a:solidFill>
            <a:prstDash val="solid"/>
          </a:ln>
        </p:spPr>
      </p:sp>
      <p:sp>
        <p:nvSpPr>
          <p:cNvPr id="21" name="Text 19"/>
          <p:cNvSpPr txBox="1"/>
          <p:nvPr/>
        </p:nvSpPr>
        <p:spPr>
          <a:xfrm>
            <a:off x="6163056" y="214884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New version deployed to staging slot</a:t>
            </a:r>
            <a:endParaRPr lang="en-US" sz="1050" dirty="0"/>
          </a:p>
        </p:txBody>
      </p:sp>
      <p:sp>
        <p:nvSpPr>
          <p:cNvPr id="22" name="Shape 20"/>
          <p:cNvSpPr/>
          <p:nvPr/>
        </p:nvSpPr>
        <p:spPr>
          <a:xfrm>
            <a:off x="8631936" y="1874520"/>
            <a:ext cx="201168" cy="146304"/>
          </a:xfrm>
          <a:prstGeom prst="rightArrow">
            <a:avLst/>
          </a:prstGeom>
          <a:solidFill>
            <a:srgbClr val="1C7293"/>
          </a:solidFill>
          <a:ln/>
        </p:spPr>
      </p:sp>
      <p:sp>
        <p:nvSpPr>
          <p:cNvPr id="23" name="Shape 21"/>
          <p:cNvSpPr/>
          <p:nvPr/>
        </p:nvSpPr>
        <p:spPr>
          <a:xfrm>
            <a:off x="8860536" y="1691640"/>
            <a:ext cx="2514600" cy="457200"/>
          </a:xfrm>
          <a:prstGeom prst="roundRect">
            <a:avLst>
              <a:gd name="adj" fmla="val 18000"/>
            </a:avLst>
          </a:prstGeom>
          <a:solidFill>
            <a:srgbClr val="FFFFFF"/>
          </a:solidFill>
          <a:ln w="12700">
            <a:solidFill>
              <a:srgbClr val="D6E0E6"/>
            </a:solidFill>
            <a:prstDash val="solid"/>
          </a:ln>
        </p:spPr>
      </p:sp>
      <p:sp>
        <p:nvSpPr>
          <p:cNvPr id="24" name="Text 22"/>
          <p:cNvSpPr txBox="1"/>
          <p:nvPr/>
        </p:nvSpPr>
        <p:spPr>
          <a:xfrm>
            <a:off x="8906256" y="169164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Health Check</a:t>
            </a:r>
            <a:endParaRPr lang="en-US" sz="1300" dirty="0"/>
          </a:p>
        </p:txBody>
      </p:sp>
      <p:sp>
        <p:nvSpPr>
          <p:cNvPr id="25" name="Text 23"/>
          <p:cNvSpPr txBox="1"/>
          <p:nvPr/>
        </p:nvSpPr>
        <p:spPr>
          <a:xfrm>
            <a:off x="8933688" y="219456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Azure calls /actuator/health</a:t>
            </a:r>
            <a:endParaRPr lang="en-US" sz="1050" dirty="0"/>
          </a:p>
        </p:txBody>
      </p:sp>
      <p:sp>
        <p:nvSpPr>
          <p:cNvPr id="26" name="Shape 24"/>
          <p:cNvSpPr/>
          <p:nvPr/>
        </p:nvSpPr>
        <p:spPr>
          <a:xfrm>
            <a:off x="8860536" y="2148840"/>
            <a:ext cx="2514600" cy="914400"/>
          </a:xfrm>
          <a:prstGeom prst="roundRect">
            <a:avLst>
              <a:gd name="adj" fmla="val 6000"/>
            </a:avLst>
          </a:prstGeom>
          <a:solidFill>
            <a:srgbClr val="FFFFFF"/>
          </a:solidFill>
          <a:ln w="12700">
            <a:solidFill>
              <a:srgbClr val="DCE6EC"/>
            </a:solidFill>
            <a:prstDash val="solid"/>
          </a:ln>
        </p:spPr>
      </p:sp>
      <p:sp>
        <p:nvSpPr>
          <p:cNvPr id="27" name="Text 25"/>
          <p:cNvSpPr txBox="1"/>
          <p:nvPr/>
        </p:nvSpPr>
        <p:spPr>
          <a:xfrm>
            <a:off x="8933688" y="214884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Azure calls /actuator/health</a:t>
            </a:r>
            <a:endParaRPr lang="en-US" sz="1050" dirty="0"/>
          </a:p>
        </p:txBody>
      </p:sp>
      <p:sp>
        <p:nvSpPr>
          <p:cNvPr id="28" name="Shape 26"/>
          <p:cNvSpPr/>
          <p:nvPr/>
        </p:nvSpPr>
        <p:spPr>
          <a:xfrm>
            <a:off x="10044684" y="3090672"/>
            <a:ext cx="146304" cy="448056"/>
          </a:xfrm>
          <a:prstGeom prst="downArrow">
            <a:avLst/>
          </a:prstGeom>
          <a:solidFill>
            <a:srgbClr val="1C7293"/>
          </a:solidFill>
          <a:ln/>
        </p:spPr>
      </p:sp>
      <p:sp>
        <p:nvSpPr>
          <p:cNvPr id="29" name="Shape 27"/>
          <p:cNvSpPr/>
          <p:nvPr/>
        </p:nvSpPr>
        <p:spPr>
          <a:xfrm>
            <a:off x="548640" y="3566160"/>
            <a:ext cx="2514600" cy="457200"/>
          </a:xfrm>
          <a:prstGeom prst="roundRect">
            <a:avLst>
              <a:gd name="adj" fmla="val 18000"/>
            </a:avLst>
          </a:prstGeom>
          <a:solidFill>
            <a:srgbClr val="FFFFFF"/>
          </a:solidFill>
          <a:ln w="12700">
            <a:solidFill>
              <a:srgbClr val="D6E0E6"/>
            </a:solidFill>
            <a:prstDash val="solid"/>
          </a:ln>
        </p:spPr>
      </p:sp>
      <p:sp>
        <p:nvSpPr>
          <p:cNvPr id="30" name="Text 28"/>
          <p:cNvSpPr txBox="1"/>
          <p:nvPr/>
        </p:nvSpPr>
        <p:spPr>
          <a:xfrm>
            <a:off x="594360" y="356616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Warm-up</a:t>
            </a:r>
            <a:endParaRPr lang="en-US" sz="1300" dirty="0"/>
          </a:p>
        </p:txBody>
      </p:sp>
      <p:sp>
        <p:nvSpPr>
          <p:cNvPr id="31" name="Text 29"/>
          <p:cNvSpPr txBox="1"/>
          <p:nvPr/>
        </p:nvSpPr>
        <p:spPr>
          <a:xfrm>
            <a:off x="621792" y="406908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App warmed via configured ping path</a:t>
            </a:r>
            <a:endParaRPr lang="en-US" sz="1050" dirty="0"/>
          </a:p>
        </p:txBody>
      </p:sp>
      <p:sp>
        <p:nvSpPr>
          <p:cNvPr id="32" name="Shape 30"/>
          <p:cNvSpPr/>
          <p:nvPr/>
        </p:nvSpPr>
        <p:spPr>
          <a:xfrm>
            <a:off x="548640" y="4023360"/>
            <a:ext cx="2514600" cy="914400"/>
          </a:xfrm>
          <a:prstGeom prst="roundRect">
            <a:avLst>
              <a:gd name="adj" fmla="val 6000"/>
            </a:avLst>
          </a:prstGeom>
          <a:solidFill>
            <a:srgbClr val="FFFFFF"/>
          </a:solidFill>
          <a:ln w="12700">
            <a:solidFill>
              <a:srgbClr val="DCE6EC"/>
            </a:solidFill>
            <a:prstDash val="solid"/>
          </a:ln>
        </p:spPr>
      </p:sp>
      <p:sp>
        <p:nvSpPr>
          <p:cNvPr id="33" name="Text 31"/>
          <p:cNvSpPr txBox="1"/>
          <p:nvPr/>
        </p:nvSpPr>
        <p:spPr>
          <a:xfrm>
            <a:off x="621792" y="402336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App warmed via configured ping path</a:t>
            </a:r>
            <a:endParaRPr lang="en-US" sz="1050" dirty="0"/>
          </a:p>
        </p:txBody>
      </p:sp>
      <p:sp>
        <p:nvSpPr>
          <p:cNvPr id="34" name="Shape 32"/>
          <p:cNvSpPr/>
          <p:nvPr/>
        </p:nvSpPr>
        <p:spPr>
          <a:xfrm>
            <a:off x="3090672" y="3749040"/>
            <a:ext cx="201168" cy="146304"/>
          </a:xfrm>
          <a:prstGeom prst="rightArrow">
            <a:avLst/>
          </a:prstGeom>
          <a:solidFill>
            <a:srgbClr val="1C7293"/>
          </a:solidFill>
          <a:ln/>
        </p:spPr>
      </p:sp>
      <p:sp>
        <p:nvSpPr>
          <p:cNvPr id="35" name="Shape 33"/>
          <p:cNvSpPr/>
          <p:nvPr/>
        </p:nvSpPr>
        <p:spPr>
          <a:xfrm>
            <a:off x="3319272" y="3566160"/>
            <a:ext cx="2514600" cy="457200"/>
          </a:xfrm>
          <a:prstGeom prst="roundRect">
            <a:avLst>
              <a:gd name="adj" fmla="val 18000"/>
            </a:avLst>
          </a:prstGeom>
          <a:solidFill>
            <a:srgbClr val="FFFFFF"/>
          </a:solidFill>
          <a:ln w="12700">
            <a:solidFill>
              <a:srgbClr val="D6E0E6"/>
            </a:solidFill>
            <a:prstDash val="solid"/>
          </a:ln>
        </p:spPr>
      </p:sp>
      <p:sp>
        <p:nvSpPr>
          <p:cNvPr id="36" name="Text 34"/>
          <p:cNvSpPr txBox="1"/>
          <p:nvPr/>
        </p:nvSpPr>
        <p:spPr>
          <a:xfrm>
            <a:off x="3364992" y="356616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Validation</a:t>
            </a:r>
            <a:endParaRPr lang="en-US" sz="1300" dirty="0"/>
          </a:p>
        </p:txBody>
      </p:sp>
      <p:sp>
        <p:nvSpPr>
          <p:cNvPr id="37" name="Text 35"/>
          <p:cNvSpPr txBox="1"/>
          <p:nvPr/>
        </p:nvSpPr>
        <p:spPr>
          <a:xfrm>
            <a:off x="3392424" y="406908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status = UP, swapValidation = PASSED</a:t>
            </a:r>
            <a:endParaRPr lang="en-US" sz="1050" dirty="0"/>
          </a:p>
        </p:txBody>
      </p:sp>
      <p:sp>
        <p:nvSpPr>
          <p:cNvPr id="38" name="Shape 36"/>
          <p:cNvSpPr/>
          <p:nvPr/>
        </p:nvSpPr>
        <p:spPr>
          <a:xfrm>
            <a:off x="3319272" y="4023360"/>
            <a:ext cx="2514600" cy="914400"/>
          </a:xfrm>
          <a:prstGeom prst="roundRect">
            <a:avLst>
              <a:gd name="adj" fmla="val 6000"/>
            </a:avLst>
          </a:prstGeom>
          <a:solidFill>
            <a:srgbClr val="FFFFFF"/>
          </a:solidFill>
          <a:ln w="12700">
            <a:solidFill>
              <a:srgbClr val="DCE6EC"/>
            </a:solidFill>
            <a:prstDash val="solid"/>
          </a:ln>
        </p:spPr>
      </p:sp>
      <p:sp>
        <p:nvSpPr>
          <p:cNvPr id="39" name="Text 37"/>
          <p:cNvSpPr txBox="1"/>
          <p:nvPr/>
        </p:nvSpPr>
        <p:spPr>
          <a:xfrm>
            <a:off x="3392424" y="402336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status = UP, swapValidation = PASSED</a:t>
            </a:r>
            <a:endParaRPr lang="en-US" sz="1050" dirty="0"/>
          </a:p>
        </p:txBody>
      </p:sp>
      <p:sp>
        <p:nvSpPr>
          <p:cNvPr id="40" name="Shape 38"/>
          <p:cNvSpPr/>
          <p:nvPr/>
        </p:nvSpPr>
        <p:spPr>
          <a:xfrm>
            <a:off x="5861304" y="3749040"/>
            <a:ext cx="201168" cy="146304"/>
          </a:xfrm>
          <a:prstGeom prst="rightArrow">
            <a:avLst/>
          </a:prstGeom>
          <a:solidFill>
            <a:srgbClr val="1C7293"/>
          </a:solidFill>
          <a:ln/>
        </p:spPr>
      </p:sp>
      <p:sp>
        <p:nvSpPr>
          <p:cNvPr id="41" name="Shape 39"/>
          <p:cNvSpPr/>
          <p:nvPr/>
        </p:nvSpPr>
        <p:spPr>
          <a:xfrm>
            <a:off x="6089904" y="3566160"/>
            <a:ext cx="2514600" cy="457200"/>
          </a:xfrm>
          <a:prstGeom prst="roundRect">
            <a:avLst>
              <a:gd name="adj" fmla="val 18000"/>
            </a:avLst>
          </a:prstGeom>
          <a:solidFill>
            <a:srgbClr val="FFFFFF"/>
          </a:solidFill>
          <a:ln w="12700">
            <a:solidFill>
              <a:srgbClr val="D6E0E6"/>
            </a:solidFill>
            <a:prstDash val="solid"/>
          </a:ln>
        </p:spPr>
      </p:sp>
      <p:sp>
        <p:nvSpPr>
          <p:cNvPr id="42" name="Text 40"/>
          <p:cNvSpPr txBox="1"/>
          <p:nvPr/>
        </p:nvSpPr>
        <p:spPr>
          <a:xfrm>
            <a:off x="6135624" y="3566160"/>
            <a:ext cx="2423160" cy="45720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Slot Swap</a:t>
            </a:r>
            <a:endParaRPr lang="en-US" sz="1300" dirty="0"/>
          </a:p>
        </p:txBody>
      </p:sp>
      <p:sp>
        <p:nvSpPr>
          <p:cNvPr id="43" name="Text 41"/>
          <p:cNvSpPr txBox="1"/>
          <p:nvPr/>
        </p:nvSpPr>
        <p:spPr>
          <a:xfrm>
            <a:off x="6163056" y="406908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Staging promoted to Production</a:t>
            </a:r>
            <a:endParaRPr lang="en-US" sz="1050" dirty="0"/>
          </a:p>
        </p:txBody>
      </p:sp>
      <p:sp>
        <p:nvSpPr>
          <p:cNvPr id="44" name="Shape 42"/>
          <p:cNvSpPr/>
          <p:nvPr/>
        </p:nvSpPr>
        <p:spPr>
          <a:xfrm>
            <a:off x="6089904" y="4023360"/>
            <a:ext cx="2514600" cy="914400"/>
          </a:xfrm>
          <a:prstGeom prst="roundRect">
            <a:avLst>
              <a:gd name="adj" fmla="val 6000"/>
            </a:avLst>
          </a:prstGeom>
          <a:solidFill>
            <a:srgbClr val="FFFFFF"/>
          </a:solidFill>
          <a:ln w="12700">
            <a:solidFill>
              <a:srgbClr val="DCE6EC"/>
            </a:solidFill>
            <a:prstDash val="solid"/>
          </a:ln>
        </p:spPr>
      </p:sp>
      <p:sp>
        <p:nvSpPr>
          <p:cNvPr id="45" name="Text 43"/>
          <p:cNvSpPr txBox="1"/>
          <p:nvPr/>
        </p:nvSpPr>
        <p:spPr>
          <a:xfrm>
            <a:off x="6163056" y="402336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Staging promoted to Production</a:t>
            </a:r>
            <a:endParaRPr lang="en-US" sz="1050" dirty="0"/>
          </a:p>
        </p:txBody>
      </p:sp>
      <p:sp>
        <p:nvSpPr>
          <p:cNvPr id="46" name="Shape 44"/>
          <p:cNvSpPr/>
          <p:nvPr/>
        </p:nvSpPr>
        <p:spPr>
          <a:xfrm>
            <a:off x="8631936" y="3749040"/>
            <a:ext cx="201168" cy="146304"/>
          </a:xfrm>
          <a:prstGeom prst="rightArrow">
            <a:avLst/>
          </a:prstGeom>
          <a:solidFill>
            <a:srgbClr val="1C7293"/>
          </a:solidFill>
          <a:ln/>
        </p:spPr>
      </p:sp>
      <p:sp>
        <p:nvSpPr>
          <p:cNvPr id="47" name="Shape 45"/>
          <p:cNvSpPr/>
          <p:nvPr/>
        </p:nvSpPr>
        <p:spPr>
          <a:xfrm>
            <a:off x="8860536" y="3566160"/>
            <a:ext cx="2514600" cy="457200"/>
          </a:xfrm>
          <a:prstGeom prst="roundRect">
            <a:avLst>
              <a:gd name="adj" fmla="val 18000"/>
            </a:avLst>
          </a:prstGeom>
          <a:solidFill>
            <a:srgbClr val="065A82"/>
          </a:solidFill>
          <a:ln w="12700">
            <a:solidFill>
              <a:srgbClr val="D6E0E6"/>
            </a:solidFill>
            <a:prstDash val="solid"/>
          </a:ln>
        </p:spPr>
      </p:sp>
      <p:sp>
        <p:nvSpPr>
          <p:cNvPr id="48" name="Text 46"/>
          <p:cNvSpPr txBox="1"/>
          <p:nvPr/>
        </p:nvSpPr>
        <p:spPr>
          <a:xfrm>
            <a:off x="8906256" y="3566160"/>
            <a:ext cx="24231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Production</a:t>
            </a:r>
            <a:endParaRPr lang="en-US" sz="1300" dirty="0"/>
          </a:p>
        </p:txBody>
      </p:sp>
      <p:sp>
        <p:nvSpPr>
          <p:cNvPr id="49" name="Text 47"/>
          <p:cNvSpPr txBox="1"/>
          <p:nvPr/>
        </p:nvSpPr>
        <p:spPr>
          <a:xfrm>
            <a:off x="8933688" y="4069080"/>
            <a:ext cx="2368296" cy="86868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Live traffic served, rollback if required</a:t>
            </a:r>
            <a:endParaRPr lang="en-US" sz="1050" dirty="0"/>
          </a:p>
        </p:txBody>
      </p:sp>
      <p:sp>
        <p:nvSpPr>
          <p:cNvPr id="50" name="Shape 48"/>
          <p:cNvSpPr/>
          <p:nvPr/>
        </p:nvSpPr>
        <p:spPr>
          <a:xfrm>
            <a:off x="8860536" y="4023360"/>
            <a:ext cx="2514600" cy="914400"/>
          </a:xfrm>
          <a:prstGeom prst="roundRect">
            <a:avLst>
              <a:gd name="adj" fmla="val 6000"/>
            </a:avLst>
          </a:prstGeom>
          <a:solidFill>
            <a:srgbClr val="FFFFFF"/>
          </a:solidFill>
          <a:ln w="12700">
            <a:solidFill>
              <a:srgbClr val="DCE6EC"/>
            </a:solidFill>
            <a:prstDash val="solid"/>
          </a:ln>
        </p:spPr>
      </p:sp>
      <p:sp>
        <p:nvSpPr>
          <p:cNvPr id="51" name="Text 49"/>
          <p:cNvSpPr txBox="1"/>
          <p:nvPr/>
        </p:nvSpPr>
        <p:spPr>
          <a:xfrm>
            <a:off x="8933688" y="4023360"/>
            <a:ext cx="2368296" cy="914400"/>
          </a:xfrm>
          <a:prstGeom prst="rect">
            <a:avLst/>
          </a:prstGeom>
          <a:noFill/>
          <a:ln/>
        </p:spPr>
        <p:txBody>
          <a:bodyPr wrap="square" lIns="0" tIns="0" rIns="0" bIns="0" rtlCol="0" anchor="t"/>
          <a:lstStyle/>
          <a:p>
            <a:pPr marL="0" indent="0">
              <a:buNone/>
            </a:pPr>
            <a:r>
              <a:rPr lang="en-US" sz="1050" dirty="0">
                <a:solidFill>
                  <a:srgbClr val="5B6B77"/>
                </a:solidFill>
                <a:latin typeface="Calibri" pitchFamily="34" charset="0"/>
                <a:ea typeface="Calibri" pitchFamily="34" charset="-122"/>
                <a:cs typeface="Calibri" pitchFamily="34" charset="-120"/>
              </a:rPr>
              <a:t>Live traffic served, rollback if required</a:t>
            </a:r>
            <a:endParaRPr lang="en-US" sz="1050" dirty="0"/>
          </a:p>
        </p:txBody>
      </p:sp>
      <p:sp>
        <p:nvSpPr>
          <p:cNvPr id="52" name="Shape 50"/>
          <p:cNvSpPr/>
          <p:nvPr/>
        </p:nvSpPr>
        <p:spPr>
          <a:xfrm>
            <a:off x="548640" y="5806440"/>
            <a:ext cx="11064240" cy="502920"/>
          </a:xfrm>
          <a:prstGeom prst="roundRect">
            <a:avLst>
              <a:gd name="adj" fmla="val 14545"/>
            </a:avLst>
          </a:prstGeom>
          <a:solidFill>
            <a:srgbClr val="C7511F">
              <a:alpha val="12000"/>
            </a:srgbClr>
          </a:solidFill>
          <a:ln w="12700">
            <a:solidFill>
              <a:srgbClr val="C7511F"/>
            </a:solidFill>
            <a:prstDash val="solid"/>
          </a:ln>
        </p:spPr>
      </p:sp>
      <p:sp>
        <p:nvSpPr>
          <p:cNvPr id="53" name="Text 51"/>
          <p:cNvSpPr txBox="1"/>
          <p:nvPr/>
        </p:nvSpPr>
        <p:spPr>
          <a:xfrm>
            <a:off x="685800" y="5806440"/>
            <a:ext cx="10789920" cy="502920"/>
          </a:xfrm>
          <a:prstGeom prst="rect">
            <a:avLst/>
          </a:prstGeom>
          <a:noFill/>
          <a:ln/>
        </p:spPr>
        <p:txBody>
          <a:bodyPr wrap="square" lIns="0" tIns="0" rIns="0" bIns="0" rtlCol="0" anchor="ctr"/>
          <a:lstStyle/>
          <a:p>
            <a:pPr marL="0" indent="0">
              <a:buNone/>
            </a:pPr>
            <a:r>
              <a:rPr lang="en-US" sz="1200" i="1" dirty="0">
                <a:solidFill>
                  <a:srgbClr val="C7511F"/>
                </a:solidFill>
                <a:latin typeface="Calibri" pitchFamily="34" charset="0"/>
                <a:ea typeface="Calibri" pitchFamily="34" charset="-122"/>
                <a:cs typeface="Calibri" pitchFamily="34" charset="-120"/>
              </a:rPr>
              <a:t>Rollback path: if validation fails at any stage, the swap is not performed and production is unaffected.</a:t>
            </a:r>
            <a:endParaRPr lang="en-US" sz="1200" dirty="0"/>
          </a:p>
        </p:txBody>
      </p:sp>
      <p:sp>
        <p:nvSpPr>
          <p:cNvPr id="54" name="Text 52"/>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55" name="Text 53"/>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SYSTEM ARCHITECTURE</a:t>
            </a:r>
            <a:endParaRPr lang="en-US" sz="1100" dirty="0"/>
          </a:p>
        </p:txBody>
      </p:sp>
      <p:sp>
        <p:nvSpPr>
          <p:cNvPr id="4" name="Text 2"/>
          <p:cNvSpPr txBox="1"/>
          <p:nvPr/>
        </p:nvSpPr>
        <p:spPr>
          <a:xfrm>
            <a:off x="548640" y="960120"/>
            <a:ext cx="10058400" cy="457200"/>
          </a:xfrm>
          <a:prstGeom prst="rect">
            <a:avLst/>
          </a:prstGeom>
          <a:noFill/>
          <a:ln/>
        </p:spPr>
        <p:txBody>
          <a:bodyPr wrap="square" lIns="0" tIns="0" rIns="0" bIns="0" rtlCol="0" anchor="ctr"/>
          <a:lstStyle/>
          <a:p>
            <a:pPr marL="0" indent="0">
              <a:buNone/>
            </a:pPr>
            <a:r>
              <a:rPr lang="en-US" sz="2400" b="1" dirty="0">
                <a:solidFill>
                  <a:srgbClr val="1A2733"/>
                </a:solidFill>
                <a:latin typeface="Cambria" pitchFamily="34" charset="0"/>
                <a:ea typeface="Cambria" pitchFamily="34" charset="-122"/>
                <a:cs typeface="Cambria" pitchFamily="34" charset="-120"/>
              </a:rPr>
              <a:t>From commit to validated production swap</a:t>
            </a:r>
            <a:endParaRPr lang="en-US" sz="2400" dirty="0"/>
          </a:p>
        </p:txBody>
      </p:sp>
      <p:sp>
        <p:nvSpPr>
          <p:cNvPr id="5" name="Shape 3"/>
          <p:cNvSpPr/>
          <p:nvPr/>
        </p:nvSpPr>
        <p:spPr>
          <a:xfrm>
            <a:off x="822960" y="1691640"/>
            <a:ext cx="2834640" cy="566928"/>
          </a:xfrm>
          <a:prstGeom prst="roundRect">
            <a:avLst>
              <a:gd name="adj" fmla="val 14516"/>
            </a:avLst>
          </a:prstGeom>
          <a:solidFill>
            <a:srgbClr val="FFFFFF"/>
          </a:solidFill>
          <a:ln w="12700">
            <a:solidFill>
              <a:srgbClr val="D6E0E6"/>
            </a:solidFill>
            <a:prstDash val="solid"/>
          </a:ln>
        </p:spPr>
      </p:sp>
      <p:sp>
        <p:nvSpPr>
          <p:cNvPr id="6" name="Text 4"/>
          <p:cNvSpPr txBox="1"/>
          <p:nvPr/>
        </p:nvSpPr>
        <p:spPr>
          <a:xfrm>
            <a:off x="868680" y="1691640"/>
            <a:ext cx="2743200" cy="566928"/>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Developer</a:t>
            </a:r>
            <a:endParaRPr lang="en-US" sz="1150" dirty="0"/>
          </a:p>
        </p:txBody>
      </p:sp>
      <p:sp>
        <p:nvSpPr>
          <p:cNvPr id="7" name="Shape 5"/>
          <p:cNvSpPr/>
          <p:nvPr/>
        </p:nvSpPr>
        <p:spPr>
          <a:xfrm>
            <a:off x="2167128" y="2276856"/>
            <a:ext cx="146304" cy="164592"/>
          </a:xfrm>
          <a:prstGeom prst="downArrow">
            <a:avLst/>
          </a:prstGeom>
          <a:solidFill>
            <a:srgbClr val="1C7293"/>
          </a:solidFill>
          <a:ln/>
        </p:spPr>
      </p:sp>
      <p:sp>
        <p:nvSpPr>
          <p:cNvPr id="8" name="Shape 6"/>
          <p:cNvSpPr/>
          <p:nvPr/>
        </p:nvSpPr>
        <p:spPr>
          <a:xfrm>
            <a:off x="822960" y="2459736"/>
            <a:ext cx="2834640" cy="566928"/>
          </a:xfrm>
          <a:prstGeom prst="roundRect">
            <a:avLst>
              <a:gd name="adj" fmla="val 14516"/>
            </a:avLst>
          </a:prstGeom>
          <a:solidFill>
            <a:srgbClr val="FFFFFF"/>
          </a:solidFill>
          <a:ln w="12700">
            <a:solidFill>
              <a:srgbClr val="D6E0E6"/>
            </a:solidFill>
            <a:prstDash val="solid"/>
          </a:ln>
        </p:spPr>
      </p:sp>
      <p:sp>
        <p:nvSpPr>
          <p:cNvPr id="9" name="Text 7"/>
          <p:cNvSpPr txBox="1"/>
          <p:nvPr/>
        </p:nvSpPr>
        <p:spPr>
          <a:xfrm>
            <a:off x="868680" y="2459736"/>
            <a:ext cx="2743200" cy="566928"/>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Git / GitHub</a:t>
            </a:r>
            <a:endParaRPr lang="en-US" sz="1150" dirty="0"/>
          </a:p>
        </p:txBody>
      </p:sp>
      <p:sp>
        <p:nvSpPr>
          <p:cNvPr id="10" name="Shape 8"/>
          <p:cNvSpPr/>
          <p:nvPr/>
        </p:nvSpPr>
        <p:spPr>
          <a:xfrm>
            <a:off x="2167128" y="3044952"/>
            <a:ext cx="146304" cy="164592"/>
          </a:xfrm>
          <a:prstGeom prst="downArrow">
            <a:avLst/>
          </a:prstGeom>
          <a:solidFill>
            <a:srgbClr val="1C7293"/>
          </a:solidFill>
          <a:ln/>
        </p:spPr>
      </p:sp>
      <p:sp>
        <p:nvSpPr>
          <p:cNvPr id="11" name="Shape 9"/>
          <p:cNvSpPr/>
          <p:nvPr/>
        </p:nvSpPr>
        <p:spPr>
          <a:xfrm>
            <a:off x="822960" y="3227832"/>
            <a:ext cx="2834640" cy="566928"/>
          </a:xfrm>
          <a:prstGeom prst="roundRect">
            <a:avLst>
              <a:gd name="adj" fmla="val 14516"/>
            </a:avLst>
          </a:prstGeom>
          <a:solidFill>
            <a:srgbClr val="FFFFFF"/>
          </a:solidFill>
          <a:ln w="12700">
            <a:solidFill>
              <a:srgbClr val="D6E0E6"/>
            </a:solidFill>
            <a:prstDash val="solid"/>
          </a:ln>
        </p:spPr>
      </p:sp>
      <p:sp>
        <p:nvSpPr>
          <p:cNvPr id="12" name="Text 10"/>
          <p:cNvSpPr txBox="1"/>
          <p:nvPr/>
        </p:nvSpPr>
        <p:spPr>
          <a:xfrm>
            <a:off x="868680" y="3227832"/>
            <a:ext cx="2743200" cy="566928"/>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Spring Boot App</a:t>
            </a:r>
            <a:endParaRPr lang="en-US" sz="1150" dirty="0"/>
          </a:p>
        </p:txBody>
      </p:sp>
      <p:sp>
        <p:nvSpPr>
          <p:cNvPr id="13" name="Shape 11"/>
          <p:cNvSpPr/>
          <p:nvPr/>
        </p:nvSpPr>
        <p:spPr>
          <a:xfrm>
            <a:off x="2167128" y="3813048"/>
            <a:ext cx="146304" cy="164592"/>
          </a:xfrm>
          <a:prstGeom prst="downArrow">
            <a:avLst/>
          </a:prstGeom>
          <a:solidFill>
            <a:srgbClr val="1C7293"/>
          </a:solidFill>
          <a:ln/>
        </p:spPr>
      </p:sp>
      <p:sp>
        <p:nvSpPr>
          <p:cNvPr id="14" name="Shape 12"/>
          <p:cNvSpPr/>
          <p:nvPr/>
        </p:nvSpPr>
        <p:spPr>
          <a:xfrm>
            <a:off x="822960" y="3995928"/>
            <a:ext cx="2834640" cy="566928"/>
          </a:xfrm>
          <a:prstGeom prst="roundRect">
            <a:avLst>
              <a:gd name="adj" fmla="val 14516"/>
            </a:avLst>
          </a:prstGeom>
          <a:solidFill>
            <a:srgbClr val="FFFFFF"/>
          </a:solidFill>
          <a:ln w="12700">
            <a:solidFill>
              <a:srgbClr val="D6E0E6"/>
            </a:solidFill>
            <a:prstDash val="solid"/>
          </a:ln>
        </p:spPr>
      </p:sp>
      <p:sp>
        <p:nvSpPr>
          <p:cNvPr id="15" name="Text 13"/>
          <p:cNvSpPr txBox="1"/>
          <p:nvPr/>
        </p:nvSpPr>
        <p:spPr>
          <a:xfrm>
            <a:off x="868680" y="3995928"/>
            <a:ext cx="2743200" cy="566928"/>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Maven Build</a:t>
            </a:r>
            <a:endParaRPr lang="en-US" sz="1150" dirty="0"/>
          </a:p>
        </p:txBody>
      </p:sp>
      <p:sp>
        <p:nvSpPr>
          <p:cNvPr id="16" name="Shape 14"/>
          <p:cNvSpPr/>
          <p:nvPr/>
        </p:nvSpPr>
        <p:spPr>
          <a:xfrm>
            <a:off x="2167128" y="4581144"/>
            <a:ext cx="146304" cy="164592"/>
          </a:xfrm>
          <a:prstGeom prst="downArrow">
            <a:avLst/>
          </a:prstGeom>
          <a:solidFill>
            <a:srgbClr val="1C7293"/>
          </a:solidFill>
          <a:ln/>
        </p:spPr>
      </p:sp>
      <p:sp>
        <p:nvSpPr>
          <p:cNvPr id="17" name="Shape 15"/>
          <p:cNvSpPr/>
          <p:nvPr/>
        </p:nvSpPr>
        <p:spPr>
          <a:xfrm>
            <a:off x="822960" y="4764024"/>
            <a:ext cx="2834640" cy="566928"/>
          </a:xfrm>
          <a:prstGeom prst="roundRect">
            <a:avLst>
              <a:gd name="adj" fmla="val 14516"/>
            </a:avLst>
          </a:prstGeom>
          <a:solidFill>
            <a:srgbClr val="065A82"/>
          </a:solidFill>
          <a:ln w="12700">
            <a:solidFill>
              <a:srgbClr val="D6E0E6"/>
            </a:solidFill>
            <a:prstDash val="solid"/>
          </a:ln>
        </p:spPr>
      </p:sp>
      <p:sp>
        <p:nvSpPr>
          <p:cNvPr id="18" name="Text 16"/>
          <p:cNvSpPr txBox="1"/>
          <p:nvPr/>
        </p:nvSpPr>
        <p:spPr>
          <a:xfrm>
            <a:off x="868680" y="4764024"/>
            <a:ext cx="2743200"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Azure App Service</a:t>
            </a:r>
            <a:endParaRPr lang="en-US" sz="1150" dirty="0"/>
          </a:p>
        </p:txBody>
      </p:sp>
      <p:sp>
        <p:nvSpPr>
          <p:cNvPr id="19" name="Shape 17"/>
          <p:cNvSpPr/>
          <p:nvPr/>
        </p:nvSpPr>
        <p:spPr>
          <a:xfrm>
            <a:off x="3703320" y="5257800"/>
            <a:ext cx="502920" cy="146304"/>
          </a:xfrm>
          <a:prstGeom prst="rightArrow">
            <a:avLst/>
          </a:prstGeom>
          <a:solidFill>
            <a:srgbClr val="1C7293"/>
          </a:solidFill>
          <a:ln/>
        </p:spPr>
      </p:sp>
      <p:sp>
        <p:nvSpPr>
          <p:cNvPr id="20" name="Shape 18"/>
          <p:cNvSpPr/>
          <p:nvPr/>
        </p:nvSpPr>
        <p:spPr>
          <a:xfrm>
            <a:off x="4297680" y="5120640"/>
            <a:ext cx="2377440" cy="685800"/>
          </a:xfrm>
          <a:prstGeom prst="roundRect">
            <a:avLst>
              <a:gd name="adj" fmla="val 12000"/>
            </a:avLst>
          </a:prstGeom>
          <a:solidFill>
            <a:srgbClr val="065A82"/>
          </a:solidFill>
          <a:ln w="12700">
            <a:solidFill>
              <a:srgbClr val="D6E0E6"/>
            </a:solidFill>
            <a:prstDash val="solid"/>
          </a:ln>
        </p:spPr>
      </p:sp>
      <p:sp>
        <p:nvSpPr>
          <p:cNvPr id="21" name="Text 19"/>
          <p:cNvSpPr txBox="1"/>
          <p:nvPr/>
        </p:nvSpPr>
        <p:spPr>
          <a:xfrm>
            <a:off x="4343400" y="5120640"/>
            <a:ext cx="2286000"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Production</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(Live)</a:t>
            </a:r>
            <a:endParaRPr lang="en-US" sz="1150" dirty="0"/>
          </a:p>
        </p:txBody>
      </p:sp>
      <p:sp>
        <p:nvSpPr>
          <p:cNvPr id="22" name="Shape 20"/>
          <p:cNvSpPr/>
          <p:nvPr/>
        </p:nvSpPr>
        <p:spPr>
          <a:xfrm>
            <a:off x="6995160" y="1691640"/>
            <a:ext cx="3200400" cy="548640"/>
          </a:xfrm>
          <a:prstGeom prst="roundRect">
            <a:avLst>
              <a:gd name="adj" fmla="val 15000"/>
            </a:avLst>
          </a:prstGeom>
          <a:solidFill>
            <a:srgbClr val="FFFFFF"/>
          </a:solidFill>
          <a:ln w="12700">
            <a:solidFill>
              <a:srgbClr val="D6E0E6"/>
            </a:solidFill>
            <a:prstDash val="solid"/>
          </a:ln>
        </p:spPr>
      </p:sp>
      <p:sp>
        <p:nvSpPr>
          <p:cNvPr id="23" name="Text 21"/>
          <p:cNvSpPr txBox="1"/>
          <p:nvPr/>
        </p:nvSpPr>
        <p:spPr>
          <a:xfrm>
            <a:off x="7040880" y="1691640"/>
            <a:ext cx="3108960" cy="548640"/>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Staging</a:t>
            </a:r>
            <a:endParaRPr lang="en-US" sz="1150" dirty="0"/>
          </a:p>
          <a:p>
            <a:pPr marL="0" indent="0" algn="ctr">
              <a:buNone/>
            </a:pPr>
            <a:r>
              <a:rPr lang="en-US" sz="1150" b="1" dirty="0">
                <a:solidFill>
                  <a:srgbClr val="1A2733"/>
                </a:solidFill>
                <a:latin typeface="Calibri" pitchFamily="34" charset="0"/>
                <a:ea typeface="Calibri" pitchFamily="34" charset="-122"/>
                <a:cs typeface="Calibri" pitchFamily="34" charset="-120"/>
              </a:rPr>
              <a:t>(Validation)</a:t>
            </a:r>
            <a:endParaRPr lang="en-US" sz="1150" dirty="0"/>
          </a:p>
        </p:txBody>
      </p:sp>
      <p:sp>
        <p:nvSpPr>
          <p:cNvPr id="24" name="Shape 22"/>
          <p:cNvSpPr/>
          <p:nvPr/>
        </p:nvSpPr>
        <p:spPr>
          <a:xfrm>
            <a:off x="8522208" y="2249424"/>
            <a:ext cx="146304" cy="128016"/>
          </a:xfrm>
          <a:prstGeom prst="downArrow">
            <a:avLst/>
          </a:prstGeom>
          <a:solidFill>
            <a:srgbClr val="1C7293"/>
          </a:solidFill>
          <a:ln/>
        </p:spPr>
      </p:sp>
      <p:sp>
        <p:nvSpPr>
          <p:cNvPr id="25" name="Shape 23"/>
          <p:cNvSpPr/>
          <p:nvPr/>
        </p:nvSpPr>
        <p:spPr>
          <a:xfrm>
            <a:off x="6995160" y="2386584"/>
            <a:ext cx="3200400" cy="548640"/>
          </a:xfrm>
          <a:prstGeom prst="roundRect">
            <a:avLst>
              <a:gd name="adj" fmla="val 15000"/>
            </a:avLst>
          </a:prstGeom>
          <a:solidFill>
            <a:srgbClr val="FFFFFF"/>
          </a:solidFill>
          <a:ln w="12700">
            <a:solidFill>
              <a:srgbClr val="D6E0E6"/>
            </a:solidFill>
            <a:prstDash val="solid"/>
          </a:ln>
        </p:spPr>
      </p:sp>
      <p:sp>
        <p:nvSpPr>
          <p:cNvPr id="26" name="Text 24"/>
          <p:cNvSpPr txBox="1"/>
          <p:nvPr/>
        </p:nvSpPr>
        <p:spPr>
          <a:xfrm>
            <a:off x="7040880" y="2386584"/>
            <a:ext cx="3108960" cy="548640"/>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Spring Boot</a:t>
            </a:r>
            <a:endParaRPr lang="en-US" sz="1150" dirty="0"/>
          </a:p>
          <a:p>
            <a:pPr marL="0" indent="0" algn="ctr">
              <a:buNone/>
            </a:pPr>
            <a:r>
              <a:rPr lang="en-US" sz="1150" b="1" dirty="0">
                <a:solidFill>
                  <a:srgbClr val="1A2733"/>
                </a:solidFill>
                <a:latin typeface="Calibri" pitchFamily="34" charset="0"/>
                <a:ea typeface="Calibri" pitchFamily="34" charset="-122"/>
                <a:cs typeface="Calibri" pitchFamily="34" charset="-120"/>
              </a:rPr>
              <a:t>Actuator</a:t>
            </a:r>
            <a:endParaRPr lang="en-US" sz="1150" dirty="0"/>
          </a:p>
        </p:txBody>
      </p:sp>
      <p:sp>
        <p:nvSpPr>
          <p:cNvPr id="27" name="Shape 25"/>
          <p:cNvSpPr/>
          <p:nvPr/>
        </p:nvSpPr>
        <p:spPr>
          <a:xfrm>
            <a:off x="8522208" y="2944368"/>
            <a:ext cx="146304" cy="128016"/>
          </a:xfrm>
          <a:prstGeom prst="downArrow">
            <a:avLst/>
          </a:prstGeom>
          <a:solidFill>
            <a:srgbClr val="1C7293"/>
          </a:solidFill>
          <a:ln/>
        </p:spPr>
      </p:sp>
      <p:sp>
        <p:nvSpPr>
          <p:cNvPr id="28" name="Shape 26"/>
          <p:cNvSpPr/>
          <p:nvPr/>
        </p:nvSpPr>
        <p:spPr>
          <a:xfrm>
            <a:off x="6995160" y="3081528"/>
            <a:ext cx="3200400" cy="548640"/>
          </a:xfrm>
          <a:prstGeom prst="roundRect">
            <a:avLst>
              <a:gd name="adj" fmla="val 15000"/>
            </a:avLst>
          </a:prstGeom>
          <a:solidFill>
            <a:srgbClr val="FFFFFF"/>
          </a:solidFill>
          <a:ln w="12700">
            <a:solidFill>
              <a:srgbClr val="D6E0E6"/>
            </a:solidFill>
            <a:prstDash val="solid"/>
          </a:ln>
        </p:spPr>
      </p:sp>
      <p:sp>
        <p:nvSpPr>
          <p:cNvPr id="29" name="Text 27"/>
          <p:cNvSpPr txBox="1"/>
          <p:nvPr/>
        </p:nvSpPr>
        <p:spPr>
          <a:xfrm>
            <a:off x="7040880" y="3081528"/>
            <a:ext cx="3108960" cy="548640"/>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/actuator/health</a:t>
            </a:r>
            <a:endParaRPr lang="en-US" sz="1150" dirty="0"/>
          </a:p>
        </p:txBody>
      </p:sp>
      <p:sp>
        <p:nvSpPr>
          <p:cNvPr id="30" name="Shape 28"/>
          <p:cNvSpPr/>
          <p:nvPr/>
        </p:nvSpPr>
        <p:spPr>
          <a:xfrm>
            <a:off x="8522208" y="3639312"/>
            <a:ext cx="146304" cy="128016"/>
          </a:xfrm>
          <a:prstGeom prst="downArrow">
            <a:avLst/>
          </a:prstGeom>
          <a:solidFill>
            <a:srgbClr val="1C7293"/>
          </a:solidFill>
          <a:ln/>
        </p:spPr>
      </p:sp>
      <p:sp>
        <p:nvSpPr>
          <p:cNvPr id="31" name="Shape 29"/>
          <p:cNvSpPr/>
          <p:nvPr/>
        </p:nvSpPr>
        <p:spPr>
          <a:xfrm>
            <a:off x="6995160" y="3776472"/>
            <a:ext cx="3200400" cy="548640"/>
          </a:xfrm>
          <a:prstGeom prst="roundRect">
            <a:avLst>
              <a:gd name="adj" fmla="val 15000"/>
            </a:avLst>
          </a:prstGeom>
          <a:solidFill>
            <a:srgbClr val="FFFFFF"/>
          </a:solidFill>
          <a:ln w="12700">
            <a:solidFill>
              <a:srgbClr val="D6E0E6"/>
            </a:solidFill>
            <a:prstDash val="solid"/>
          </a:ln>
        </p:spPr>
      </p:sp>
      <p:sp>
        <p:nvSpPr>
          <p:cNvPr id="32" name="Text 30"/>
          <p:cNvSpPr txBox="1"/>
          <p:nvPr/>
        </p:nvSpPr>
        <p:spPr>
          <a:xfrm>
            <a:off x="7040880" y="3776472"/>
            <a:ext cx="3108960" cy="548640"/>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Azure Health Check</a:t>
            </a:r>
            <a:endParaRPr lang="en-US" sz="1150" dirty="0"/>
          </a:p>
        </p:txBody>
      </p:sp>
      <p:sp>
        <p:nvSpPr>
          <p:cNvPr id="33" name="Shape 31"/>
          <p:cNvSpPr/>
          <p:nvPr/>
        </p:nvSpPr>
        <p:spPr>
          <a:xfrm>
            <a:off x="8522208" y="4334256"/>
            <a:ext cx="146304" cy="128016"/>
          </a:xfrm>
          <a:prstGeom prst="downArrow">
            <a:avLst/>
          </a:prstGeom>
          <a:solidFill>
            <a:srgbClr val="1C7293"/>
          </a:solidFill>
          <a:ln/>
        </p:spPr>
      </p:sp>
      <p:sp>
        <p:nvSpPr>
          <p:cNvPr id="34" name="Shape 32"/>
          <p:cNvSpPr/>
          <p:nvPr/>
        </p:nvSpPr>
        <p:spPr>
          <a:xfrm>
            <a:off x="6995160" y="4471416"/>
            <a:ext cx="3200400" cy="548640"/>
          </a:xfrm>
          <a:prstGeom prst="roundRect">
            <a:avLst>
              <a:gd name="adj" fmla="val 15000"/>
            </a:avLst>
          </a:prstGeom>
          <a:solidFill>
            <a:srgbClr val="FFFFFF"/>
          </a:solidFill>
          <a:ln w="12700">
            <a:solidFill>
              <a:srgbClr val="D6E0E6"/>
            </a:solidFill>
            <a:prstDash val="solid"/>
          </a:ln>
        </p:spPr>
      </p:sp>
      <p:sp>
        <p:nvSpPr>
          <p:cNvPr id="35" name="Text 33"/>
          <p:cNvSpPr txBox="1"/>
          <p:nvPr/>
        </p:nvSpPr>
        <p:spPr>
          <a:xfrm>
            <a:off x="7040880" y="4471416"/>
            <a:ext cx="3108960" cy="548640"/>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Warm-up</a:t>
            </a:r>
            <a:endParaRPr lang="en-US" sz="1150" dirty="0"/>
          </a:p>
        </p:txBody>
      </p:sp>
      <p:sp>
        <p:nvSpPr>
          <p:cNvPr id="36" name="Shape 34"/>
          <p:cNvSpPr/>
          <p:nvPr/>
        </p:nvSpPr>
        <p:spPr>
          <a:xfrm>
            <a:off x="8522208" y="5029200"/>
            <a:ext cx="146304" cy="128016"/>
          </a:xfrm>
          <a:prstGeom prst="downArrow">
            <a:avLst/>
          </a:prstGeom>
          <a:solidFill>
            <a:srgbClr val="1C7293"/>
          </a:solidFill>
          <a:ln/>
        </p:spPr>
      </p:sp>
      <p:sp>
        <p:nvSpPr>
          <p:cNvPr id="37" name="Shape 35"/>
          <p:cNvSpPr/>
          <p:nvPr/>
        </p:nvSpPr>
        <p:spPr>
          <a:xfrm>
            <a:off x="6995160" y="5166360"/>
            <a:ext cx="3200400" cy="548640"/>
          </a:xfrm>
          <a:prstGeom prst="roundRect">
            <a:avLst>
              <a:gd name="adj" fmla="val 15000"/>
            </a:avLst>
          </a:prstGeom>
          <a:solidFill>
            <a:srgbClr val="FFFFFF"/>
          </a:solidFill>
          <a:ln w="12700">
            <a:solidFill>
              <a:srgbClr val="D6E0E6"/>
            </a:solidFill>
            <a:prstDash val="solid"/>
          </a:ln>
        </p:spPr>
      </p:sp>
      <p:sp>
        <p:nvSpPr>
          <p:cNvPr id="38" name="Text 36"/>
          <p:cNvSpPr txBox="1"/>
          <p:nvPr/>
        </p:nvSpPr>
        <p:spPr>
          <a:xfrm>
            <a:off x="7040880" y="5166360"/>
            <a:ext cx="3108960" cy="548640"/>
          </a:xfrm>
          <a:prstGeom prst="rect">
            <a:avLst/>
          </a:prstGeom>
          <a:noFill/>
          <a:ln/>
        </p:spPr>
        <p:txBody>
          <a:bodyPr wrap="square" lIns="0" tIns="0" rIns="0" bIns="0" rtlCol="0" anchor="ctr"/>
          <a:lstStyle/>
          <a:p>
            <a:pPr marL="0" indent="0" algn="ctr">
              <a:buNone/>
            </a:pPr>
            <a:r>
              <a:rPr lang="en-US" sz="1150" b="1" dirty="0">
                <a:solidFill>
                  <a:srgbClr val="1A2733"/>
                </a:solidFill>
                <a:latin typeface="Calibri" pitchFamily="34" charset="0"/>
                <a:ea typeface="Calibri" pitchFamily="34" charset="-122"/>
                <a:cs typeface="Calibri" pitchFamily="34" charset="-120"/>
              </a:rPr>
              <a:t>Validation</a:t>
            </a:r>
            <a:endParaRPr lang="en-US" sz="1150" dirty="0"/>
          </a:p>
        </p:txBody>
      </p:sp>
      <p:sp>
        <p:nvSpPr>
          <p:cNvPr id="39" name="Shape 37"/>
          <p:cNvSpPr/>
          <p:nvPr/>
        </p:nvSpPr>
        <p:spPr>
          <a:xfrm>
            <a:off x="8522208" y="5724144"/>
            <a:ext cx="146304" cy="128016"/>
          </a:xfrm>
          <a:prstGeom prst="downArrow">
            <a:avLst/>
          </a:prstGeom>
          <a:solidFill>
            <a:srgbClr val="1C7293"/>
          </a:solidFill>
          <a:ln/>
        </p:spPr>
      </p:sp>
      <p:sp>
        <p:nvSpPr>
          <p:cNvPr id="40" name="Shape 38"/>
          <p:cNvSpPr/>
          <p:nvPr/>
        </p:nvSpPr>
        <p:spPr>
          <a:xfrm>
            <a:off x="6995160" y="5861304"/>
            <a:ext cx="3200400" cy="548640"/>
          </a:xfrm>
          <a:prstGeom prst="roundRect">
            <a:avLst>
              <a:gd name="adj" fmla="val 15000"/>
            </a:avLst>
          </a:prstGeom>
          <a:solidFill>
            <a:srgbClr val="21C3A4"/>
          </a:solidFill>
          <a:ln w="12700">
            <a:solidFill>
              <a:srgbClr val="D6E0E6"/>
            </a:solidFill>
            <a:prstDash val="solid"/>
          </a:ln>
        </p:spPr>
      </p:sp>
      <p:sp>
        <p:nvSpPr>
          <p:cNvPr id="41" name="Text 39"/>
          <p:cNvSpPr txBox="1"/>
          <p:nvPr/>
        </p:nvSpPr>
        <p:spPr>
          <a:xfrm>
            <a:off x="7040880" y="5861304"/>
            <a:ext cx="310896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Swap</a:t>
            </a:r>
            <a:endParaRPr lang="en-US" sz="1150" dirty="0"/>
          </a:p>
        </p:txBody>
      </p:sp>
      <p:sp>
        <p:nvSpPr>
          <p:cNvPr id="42" name="Shape 40"/>
          <p:cNvSpPr/>
          <p:nvPr/>
        </p:nvSpPr>
        <p:spPr>
          <a:xfrm flipV="1">
            <a:off x="5577840" y="6391656"/>
            <a:ext cx="1417320" cy="0"/>
          </a:xfrm>
          <a:prstGeom prst="bentConnector2">
            <a:avLst/>
          </a:prstGeom>
          <a:noFill/>
          <a:ln w="25400">
            <a:solidFill>
              <a:srgbClr val="21C3A4"/>
            </a:solidFill>
            <a:prstDash val="solid"/>
            <a:tailEnd type="triangle"/>
          </a:ln>
        </p:spPr>
      </p:sp>
      <p:sp>
        <p:nvSpPr>
          <p:cNvPr id="43" name="Text 4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44" name="Text 42"/>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TECHNOLOGY STACK</a:t>
            </a:r>
            <a:endParaRPr lang="en-US" sz="1100" dirty="0"/>
          </a:p>
        </p:txBody>
      </p:sp>
      <p:sp>
        <p:nvSpPr>
          <p:cNvPr id="4" name="Text 2"/>
          <p:cNvSpPr txBox="1"/>
          <p:nvPr/>
        </p:nvSpPr>
        <p:spPr>
          <a:xfrm>
            <a:off x="548640" y="960120"/>
            <a:ext cx="10058400" cy="457200"/>
          </a:xfrm>
          <a:prstGeom prst="rect">
            <a:avLst/>
          </a:prstGeom>
          <a:noFill/>
          <a:ln/>
        </p:spPr>
        <p:txBody>
          <a:bodyPr wrap="square" lIns="0" tIns="0" rIns="0" bIns="0" rtlCol="0" anchor="ctr"/>
          <a:lstStyle/>
          <a:p>
            <a:pPr marL="0" indent="0">
              <a:buNone/>
            </a:pPr>
            <a:r>
              <a:rPr lang="en-US" sz="2400" b="1" dirty="0">
                <a:solidFill>
                  <a:srgbClr val="1A2733"/>
                </a:solidFill>
                <a:latin typeface="Cambria" pitchFamily="34" charset="0"/>
                <a:ea typeface="Cambria" pitchFamily="34" charset="-122"/>
                <a:cs typeface="Cambria" pitchFamily="34" charset="-120"/>
              </a:rPr>
              <a:t>What the solution is built on</a:t>
            </a:r>
            <a:endParaRPr lang="en-US" sz="2400" dirty="0"/>
          </a:p>
        </p:txBody>
      </p:sp>
      <p:sp>
        <p:nvSpPr>
          <p:cNvPr id="5" name="Shape 3"/>
          <p:cNvSpPr/>
          <p:nvPr/>
        </p:nvSpPr>
        <p:spPr>
          <a:xfrm>
            <a:off x="548640" y="1737360"/>
            <a:ext cx="2121408" cy="2788920"/>
          </a:xfrm>
          <a:prstGeom prst="roundRect">
            <a:avLst>
              <a:gd name="adj" fmla="val 3879"/>
            </a:avLst>
          </a:prstGeom>
          <a:solidFill>
            <a:srgbClr val="FFFFFF"/>
          </a:solidFill>
          <a:ln w="12700">
            <a:solidFill>
              <a:srgbClr val="DCE6EC"/>
            </a:solidFill>
            <a:prstDash val="solid"/>
          </a:ln>
        </p:spPr>
      </p:sp>
      <p:sp>
        <p:nvSpPr>
          <p:cNvPr id="6" name="Shape 4"/>
          <p:cNvSpPr/>
          <p:nvPr/>
        </p:nvSpPr>
        <p:spPr>
          <a:xfrm>
            <a:off x="548640" y="1737360"/>
            <a:ext cx="2121408" cy="457200"/>
          </a:xfrm>
          <a:prstGeom prst="roundRect">
            <a:avLst>
              <a:gd name="adj" fmla="val 18000"/>
            </a:avLst>
          </a:prstGeom>
          <a:solidFill>
            <a:srgbClr val="065A82"/>
          </a:solidFill>
          <a:ln/>
        </p:spPr>
      </p:sp>
      <p:sp>
        <p:nvSpPr>
          <p:cNvPr id="7" name="Text 5"/>
          <p:cNvSpPr txBox="1"/>
          <p:nvPr/>
        </p:nvSpPr>
        <p:spPr>
          <a:xfrm>
            <a:off x="548640" y="1737360"/>
            <a:ext cx="2121408"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Application</a:t>
            </a:r>
            <a:endParaRPr lang="en-US" sz="1150" dirty="0"/>
          </a:p>
        </p:txBody>
      </p:sp>
      <p:sp>
        <p:nvSpPr>
          <p:cNvPr id="8" name="Text 6"/>
          <p:cNvSpPr txBox="1"/>
          <p:nvPr/>
        </p:nvSpPr>
        <p:spPr>
          <a:xfrm>
            <a:off x="685800" y="233172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Java 21</a:t>
            </a:r>
            <a:endParaRPr lang="en-US" sz="1150" dirty="0"/>
          </a:p>
        </p:txBody>
      </p:sp>
      <p:sp>
        <p:nvSpPr>
          <p:cNvPr id="9" name="Text 7"/>
          <p:cNvSpPr txBox="1"/>
          <p:nvPr/>
        </p:nvSpPr>
        <p:spPr>
          <a:xfrm>
            <a:off x="685800" y="283464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Spring Boot</a:t>
            </a:r>
            <a:endParaRPr lang="en-US" sz="1150" dirty="0"/>
          </a:p>
        </p:txBody>
      </p:sp>
      <p:sp>
        <p:nvSpPr>
          <p:cNvPr id="10" name="Text 8"/>
          <p:cNvSpPr txBox="1"/>
          <p:nvPr/>
        </p:nvSpPr>
        <p:spPr>
          <a:xfrm>
            <a:off x="685800" y="333756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Thymeleaf</a:t>
            </a:r>
            <a:endParaRPr lang="en-US" sz="1150" dirty="0"/>
          </a:p>
        </p:txBody>
      </p:sp>
      <p:sp>
        <p:nvSpPr>
          <p:cNvPr id="11" name="Text 9"/>
          <p:cNvSpPr txBox="1"/>
          <p:nvPr/>
        </p:nvSpPr>
        <p:spPr>
          <a:xfrm>
            <a:off x="685800" y="384048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HTML / CSS</a:t>
            </a:r>
            <a:endParaRPr lang="en-US" sz="1150" dirty="0"/>
          </a:p>
        </p:txBody>
      </p:sp>
      <p:sp>
        <p:nvSpPr>
          <p:cNvPr id="12" name="Shape 10"/>
          <p:cNvSpPr/>
          <p:nvPr/>
        </p:nvSpPr>
        <p:spPr>
          <a:xfrm>
            <a:off x="2798064" y="1737360"/>
            <a:ext cx="2121408" cy="2788920"/>
          </a:xfrm>
          <a:prstGeom prst="roundRect">
            <a:avLst>
              <a:gd name="adj" fmla="val 3879"/>
            </a:avLst>
          </a:prstGeom>
          <a:solidFill>
            <a:srgbClr val="FFFFFF"/>
          </a:solidFill>
          <a:ln w="12700">
            <a:solidFill>
              <a:srgbClr val="DCE6EC"/>
            </a:solidFill>
            <a:prstDash val="solid"/>
          </a:ln>
        </p:spPr>
      </p:sp>
      <p:sp>
        <p:nvSpPr>
          <p:cNvPr id="13" name="Shape 11"/>
          <p:cNvSpPr/>
          <p:nvPr/>
        </p:nvSpPr>
        <p:spPr>
          <a:xfrm>
            <a:off x="2798064" y="1737360"/>
            <a:ext cx="2121408" cy="457200"/>
          </a:xfrm>
          <a:prstGeom prst="roundRect">
            <a:avLst>
              <a:gd name="adj" fmla="val 18000"/>
            </a:avLst>
          </a:prstGeom>
          <a:solidFill>
            <a:srgbClr val="1C7293"/>
          </a:solidFill>
          <a:ln/>
        </p:spPr>
      </p:sp>
      <p:sp>
        <p:nvSpPr>
          <p:cNvPr id="14" name="Text 12"/>
          <p:cNvSpPr txBox="1"/>
          <p:nvPr/>
        </p:nvSpPr>
        <p:spPr>
          <a:xfrm>
            <a:off x="2798064" y="1737360"/>
            <a:ext cx="2121408"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Build</a:t>
            </a:r>
            <a:endParaRPr lang="en-US" sz="1150" dirty="0"/>
          </a:p>
        </p:txBody>
      </p:sp>
      <p:sp>
        <p:nvSpPr>
          <p:cNvPr id="15" name="Text 13"/>
          <p:cNvSpPr txBox="1"/>
          <p:nvPr/>
        </p:nvSpPr>
        <p:spPr>
          <a:xfrm>
            <a:off x="2935224" y="233172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Maven</a:t>
            </a:r>
            <a:endParaRPr lang="en-US" sz="1150" dirty="0"/>
          </a:p>
        </p:txBody>
      </p:sp>
      <p:sp>
        <p:nvSpPr>
          <p:cNvPr id="16" name="Shape 14"/>
          <p:cNvSpPr/>
          <p:nvPr/>
        </p:nvSpPr>
        <p:spPr>
          <a:xfrm>
            <a:off x="5047488" y="1737360"/>
            <a:ext cx="2121408" cy="2788920"/>
          </a:xfrm>
          <a:prstGeom prst="roundRect">
            <a:avLst>
              <a:gd name="adj" fmla="val 3879"/>
            </a:avLst>
          </a:prstGeom>
          <a:solidFill>
            <a:srgbClr val="FFFFFF"/>
          </a:solidFill>
          <a:ln w="12700">
            <a:solidFill>
              <a:srgbClr val="DCE6EC"/>
            </a:solidFill>
            <a:prstDash val="solid"/>
          </a:ln>
        </p:spPr>
      </p:sp>
      <p:sp>
        <p:nvSpPr>
          <p:cNvPr id="17" name="Shape 15"/>
          <p:cNvSpPr/>
          <p:nvPr/>
        </p:nvSpPr>
        <p:spPr>
          <a:xfrm>
            <a:off x="5047488" y="1737360"/>
            <a:ext cx="2121408" cy="457200"/>
          </a:xfrm>
          <a:prstGeom prst="roundRect">
            <a:avLst>
              <a:gd name="adj" fmla="val 18000"/>
            </a:avLst>
          </a:prstGeom>
          <a:solidFill>
            <a:srgbClr val="065A82"/>
          </a:solidFill>
          <a:ln/>
        </p:spPr>
      </p:sp>
      <p:sp>
        <p:nvSpPr>
          <p:cNvPr id="18" name="Text 16"/>
          <p:cNvSpPr txBox="1"/>
          <p:nvPr/>
        </p:nvSpPr>
        <p:spPr>
          <a:xfrm>
            <a:off x="5047488" y="1737360"/>
            <a:ext cx="2121408"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Version Control</a:t>
            </a:r>
            <a:endParaRPr lang="en-US" sz="1150" dirty="0"/>
          </a:p>
        </p:txBody>
      </p:sp>
      <p:sp>
        <p:nvSpPr>
          <p:cNvPr id="19" name="Text 17"/>
          <p:cNvSpPr txBox="1"/>
          <p:nvPr/>
        </p:nvSpPr>
        <p:spPr>
          <a:xfrm>
            <a:off x="5184648" y="233172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Git</a:t>
            </a:r>
            <a:endParaRPr lang="en-US" sz="1150" dirty="0"/>
          </a:p>
        </p:txBody>
      </p:sp>
      <p:sp>
        <p:nvSpPr>
          <p:cNvPr id="20" name="Text 18"/>
          <p:cNvSpPr txBox="1"/>
          <p:nvPr/>
        </p:nvSpPr>
        <p:spPr>
          <a:xfrm>
            <a:off x="5184648" y="283464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GitHub</a:t>
            </a:r>
            <a:endParaRPr lang="en-US" sz="1150" dirty="0"/>
          </a:p>
        </p:txBody>
      </p:sp>
      <p:sp>
        <p:nvSpPr>
          <p:cNvPr id="21" name="Shape 19"/>
          <p:cNvSpPr/>
          <p:nvPr/>
        </p:nvSpPr>
        <p:spPr>
          <a:xfrm>
            <a:off x="7296912" y="1737360"/>
            <a:ext cx="2121408" cy="2788920"/>
          </a:xfrm>
          <a:prstGeom prst="roundRect">
            <a:avLst>
              <a:gd name="adj" fmla="val 3879"/>
            </a:avLst>
          </a:prstGeom>
          <a:solidFill>
            <a:srgbClr val="FFFFFF"/>
          </a:solidFill>
          <a:ln w="12700">
            <a:solidFill>
              <a:srgbClr val="DCE6EC"/>
            </a:solidFill>
            <a:prstDash val="solid"/>
          </a:ln>
        </p:spPr>
      </p:sp>
      <p:sp>
        <p:nvSpPr>
          <p:cNvPr id="22" name="Shape 20"/>
          <p:cNvSpPr/>
          <p:nvPr/>
        </p:nvSpPr>
        <p:spPr>
          <a:xfrm>
            <a:off x="7296912" y="1737360"/>
            <a:ext cx="2121408" cy="457200"/>
          </a:xfrm>
          <a:prstGeom prst="roundRect">
            <a:avLst>
              <a:gd name="adj" fmla="val 18000"/>
            </a:avLst>
          </a:prstGeom>
          <a:solidFill>
            <a:srgbClr val="1C7293"/>
          </a:solidFill>
          <a:ln/>
        </p:spPr>
      </p:sp>
      <p:sp>
        <p:nvSpPr>
          <p:cNvPr id="23" name="Text 21"/>
          <p:cNvSpPr txBox="1"/>
          <p:nvPr/>
        </p:nvSpPr>
        <p:spPr>
          <a:xfrm>
            <a:off x="7296912" y="1737360"/>
            <a:ext cx="2121408"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Cloud (Azure)</a:t>
            </a:r>
            <a:endParaRPr lang="en-US" sz="1150" dirty="0"/>
          </a:p>
        </p:txBody>
      </p:sp>
      <p:sp>
        <p:nvSpPr>
          <p:cNvPr id="24" name="Text 22"/>
          <p:cNvSpPr txBox="1"/>
          <p:nvPr/>
        </p:nvSpPr>
        <p:spPr>
          <a:xfrm>
            <a:off x="7434072" y="233172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App Service</a:t>
            </a:r>
            <a:endParaRPr lang="en-US" sz="1150" dirty="0"/>
          </a:p>
        </p:txBody>
      </p:sp>
      <p:sp>
        <p:nvSpPr>
          <p:cNvPr id="25" name="Text 23"/>
          <p:cNvSpPr txBox="1"/>
          <p:nvPr/>
        </p:nvSpPr>
        <p:spPr>
          <a:xfrm>
            <a:off x="7434072" y="283464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Deployment Slots</a:t>
            </a:r>
            <a:endParaRPr lang="en-US" sz="1150" dirty="0"/>
          </a:p>
        </p:txBody>
      </p:sp>
      <p:sp>
        <p:nvSpPr>
          <p:cNvPr id="26" name="Text 24"/>
          <p:cNvSpPr txBox="1"/>
          <p:nvPr/>
        </p:nvSpPr>
        <p:spPr>
          <a:xfrm>
            <a:off x="7434072" y="333756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App Service Plan</a:t>
            </a:r>
            <a:endParaRPr lang="en-US" sz="1150" dirty="0"/>
          </a:p>
        </p:txBody>
      </p:sp>
      <p:sp>
        <p:nvSpPr>
          <p:cNvPr id="27" name="Shape 25"/>
          <p:cNvSpPr/>
          <p:nvPr/>
        </p:nvSpPr>
        <p:spPr>
          <a:xfrm>
            <a:off x="9546336" y="1737360"/>
            <a:ext cx="2121408" cy="2788920"/>
          </a:xfrm>
          <a:prstGeom prst="roundRect">
            <a:avLst>
              <a:gd name="adj" fmla="val 3879"/>
            </a:avLst>
          </a:prstGeom>
          <a:solidFill>
            <a:srgbClr val="FFFFFF"/>
          </a:solidFill>
          <a:ln w="12700">
            <a:solidFill>
              <a:srgbClr val="DCE6EC"/>
            </a:solidFill>
            <a:prstDash val="solid"/>
          </a:ln>
        </p:spPr>
      </p:sp>
      <p:sp>
        <p:nvSpPr>
          <p:cNvPr id="28" name="Shape 26"/>
          <p:cNvSpPr/>
          <p:nvPr/>
        </p:nvSpPr>
        <p:spPr>
          <a:xfrm>
            <a:off x="9546336" y="1737360"/>
            <a:ext cx="2121408" cy="457200"/>
          </a:xfrm>
          <a:prstGeom prst="roundRect">
            <a:avLst>
              <a:gd name="adj" fmla="val 18000"/>
            </a:avLst>
          </a:prstGeom>
          <a:solidFill>
            <a:srgbClr val="065A82"/>
          </a:solidFill>
          <a:ln/>
        </p:spPr>
      </p:sp>
      <p:sp>
        <p:nvSpPr>
          <p:cNvPr id="29" name="Text 27"/>
          <p:cNvSpPr txBox="1"/>
          <p:nvPr/>
        </p:nvSpPr>
        <p:spPr>
          <a:xfrm>
            <a:off x="9546336" y="1737360"/>
            <a:ext cx="2121408"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Validation</a:t>
            </a:r>
            <a:endParaRPr lang="en-US" sz="1150" dirty="0"/>
          </a:p>
        </p:txBody>
      </p:sp>
      <p:sp>
        <p:nvSpPr>
          <p:cNvPr id="30" name="Text 28"/>
          <p:cNvSpPr txBox="1"/>
          <p:nvPr/>
        </p:nvSpPr>
        <p:spPr>
          <a:xfrm>
            <a:off x="9683496" y="233172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Spring Boot Actuator</a:t>
            </a:r>
            <a:endParaRPr lang="en-US" sz="1150" dirty="0"/>
          </a:p>
        </p:txBody>
      </p:sp>
      <p:sp>
        <p:nvSpPr>
          <p:cNvPr id="31" name="Text 29"/>
          <p:cNvSpPr txBox="1"/>
          <p:nvPr/>
        </p:nvSpPr>
        <p:spPr>
          <a:xfrm>
            <a:off x="9683496" y="283464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Azure Health Check</a:t>
            </a:r>
            <a:endParaRPr lang="en-US" sz="1150" dirty="0"/>
          </a:p>
        </p:txBody>
      </p:sp>
      <p:sp>
        <p:nvSpPr>
          <p:cNvPr id="32" name="Text 30"/>
          <p:cNvSpPr txBox="1"/>
          <p:nvPr/>
        </p:nvSpPr>
        <p:spPr>
          <a:xfrm>
            <a:off x="9683496" y="3337560"/>
            <a:ext cx="1847088" cy="457200"/>
          </a:xfrm>
          <a:prstGeom prst="rect">
            <a:avLst/>
          </a:prstGeom>
          <a:noFill/>
          <a:ln/>
        </p:spPr>
        <p:txBody>
          <a:bodyPr wrap="square" lIns="0" tIns="0" rIns="0" bIns="0" rtlCol="0" anchor="t"/>
          <a:lstStyle/>
          <a:p>
            <a:pPr marL="0" indent="0">
              <a:buNone/>
            </a:pPr>
            <a:r>
              <a:rPr lang="en-US" sz="1150" dirty="0">
                <a:solidFill>
                  <a:srgbClr val="1A2733"/>
                </a:solidFill>
                <a:latin typeface="Calibri" pitchFamily="34" charset="0"/>
                <a:ea typeface="Calibri" pitchFamily="34" charset="-122"/>
                <a:cs typeface="Calibri" pitchFamily="34" charset="-120"/>
              </a:rPr>
              <a:t>•  Application Settings</a:t>
            </a:r>
            <a:endParaRPr lang="en-US" sz="1150" dirty="0"/>
          </a:p>
        </p:txBody>
      </p:sp>
      <p:sp>
        <p:nvSpPr>
          <p:cNvPr id="33" name="Text 3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34" name="Text 32"/>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IMPLEMENTATION</a:t>
            </a:r>
            <a:endParaRPr lang="en-US" sz="1100" dirty="0"/>
          </a:p>
        </p:txBody>
      </p:sp>
      <p:sp>
        <p:nvSpPr>
          <p:cNvPr id="4" name="Text 2"/>
          <p:cNvSpPr txBox="1"/>
          <p:nvPr/>
        </p:nvSpPr>
        <p:spPr>
          <a:xfrm>
            <a:off x="548640" y="960120"/>
            <a:ext cx="10515600" cy="457200"/>
          </a:xfrm>
          <a:prstGeom prst="rect">
            <a:avLst/>
          </a:prstGeom>
          <a:noFill/>
          <a:ln/>
        </p:spPr>
        <p:txBody>
          <a:bodyPr wrap="square" lIns="0" tIns="0" rIns="0" bIns="0" rtlCol="0" anchor="ctr"/>
          <a:lstStyle/>
          <a:p>
            <a:pPr marL="0" indent="0">
              <a:buNone/>
            </a:pPr>
            <a:r>
              <a:rPr lang="en-US" sz="2300" b="1" dirty="0">
                <a:solidFill>
                  <a:srgbClr val="1A2733"/>
                </a:solidFill>
                <a:latin typeface="Cambria" pitchFamily="34" charset="0"/>
                <a:ea typeface="Cambria" pitchFamily="34" charset="-122"/>
                <a:cs typeface="Cambria" pitchFamily="34" charset="-120"/>
              </a:rPr>
              <a:t>Deployment slots on student-release-hub-2026</a:t>
            </a:r>
            <a:endParaRPr lang="en-US" sz="2300" dirty="0"/>
          </a:p>
        </p:txBody>
      </p:sp>
      <p:sp>
        <p:nvSpPr>
          <p:cNvPr id="5" name="Shape 3"/>
          <p:cNvSpPr/>
          <p:nvPr/>
        </p:nvSpPr>
        <p:spPr>
          <a:xfrm>
            <a:off x="548640" y="1691640"/>
            <a:ext cx="11064240" cy="502920"/>
          </a:xfrm>
          <a:prstGeom prst="roundRect">
            <a:avLst>
              <a:gd name="adj" fmla="val 14545"/>
            </a:avLst>
          </a:prstGeom>
          <a:solidFill>
            <a:srgbClr val="0B2A3D"/>
          </a:solidFill>
          <a:ln/>
        </p:spPr>
      </p:sp>
      <p:sp>
        <p:nvSpPr>
          <p:cNvPr id="6" name="Text 4"/>
          <p:cNvSpPr txBox="1"/>
          <p:nvPr/>
        </p:nvSpPr>
        <p:spPr>
          <a:xfrm>
            <a:off x="548640" y="1691640"/>
            <a:ext cx="110642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Azure App Service:  student-release-hub-2026   ·   Plan: azure-student-plan (S1, Linux, Java 21)   ·   Region: Southeast Asia</a:t>
            </a:r>
            <a:endParaRPr lang="en-US" sz="1200" dirty="0"/>
          </a:p>
        </p:txBody>
      </p:sp>
      <p:sp>
        <p:nvSpPr>
          <p:cNvPr id="7" name="Shape 5"/>
          <p:cNvSpPr/>
          <p:nvPr/>
        </p:nvSpPr>
        <p:spPr>
          <a:xfrm>
            <a:off x="548640" y="2423160"/>
            <a:ext cx="5394960" cy="2743200"/>
          </a:xfrm>
          <a:prstGeom prst="roundRect">
            <a:avLst>
              <a:gd name="adj" fmla="val 3333"/>
            </a:avLst>
          </a:prstGeom>
          <a:solidFill>
            <a:srgbClr val="FFFFFF"/>
          </a:solidFill>
          <a:ln w="19050">
            <a:solidFill>
              <a:srgbClr val="065A82"/>
            </a:solidFill>
            <a:prstDash val="solid"/>
          </a:ln>
        </p:spPr>
      </p:sp>
      <p:sp>
        <p:nvSpPr>
          <p:cNvPr id="8" name="Shape 6"/>
          <p:cNvSpPr/>
          <p:nvPr/>
        </p:nvSpPr>
        <p:spPr>
          <a:xfrm>
            <a:off x="868680" y="2697480"/>
            <a:ext cx="1920240" cy="384048"/>
          </a:xfrm>
          <a:prstGeom prst="roundRect">
            <a:avLst>
              <a:gd name="adj" fmla="val 50000"/>
            </a:avLst>
          </a:prstGeom>
          <a:solidFill>
            <a:srgbClr val="065A82"/>
          </a:solidFill>
          <a:ln/>
        </p:spPr>
      </p:sp>
      <p:sp>
        <p:nvSpPr>
          <p:cNvPr id="9" name="Text 7"/>
          <p:cNvSpPr txBox="1"/>
          <p:nvPr/>
        </p:nvSpPr>
        <p:spPr>
          <a:xfrm>
            <a:off x="868680" y="2697480"/>
            <a:ext cx="19202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p:txBody>
      </p:sp>
      <p:sp>
        <p:nvSpPr>
          <p:cNvPr id="10" name="Text 8"/>
          <p:cNvSpPr txBox="1"/>
          <p:nvPr/>
        </p:nvSpPr>
        <p:spPr>
          <a:xfrm>
            <a:off x="868680" y="3291840"/>
            <a:ext cx="4754880" cy="54864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Live environment — receives real production traffic.</a:t>
            </a:r>
            <a:endParaRPr lang="en-US" sz="1250" dirty="0"/>
          </a:p>
        </p:txBody>
      </p:sp>
      <p:sp>
        <p:nvSpPr>
          <p:cNvPr id="11" name="Text 9"/>
          <p:cNvSpPr txBox="1"/>
          <p:nvPr/>
        </p:nvSpPr>
        <p:spPr>
          <a:xfrm>
            <a:off x="868680" y="3931920"/>
            <a:ext cx="548640" cy="274320"/>
          </a:xfrm>
          <a:prstGeom prst="rect">
            <a:avLst/>
          </a:prstGeom>
          <a:noFill/>
          <a:ln/>
        </p:spPr>
        <p:txBody>
          <a:bodyPr wrap="square" lIns="0" tIns="0" rIns="0" bIns="0" rtlCol="0" anchor="ctr"/>
          <a:lstStyle/>
          <a:p>
            <a:pPr marL="0" indent="0">
              <a:buNone/>
            </a:pPr>
            <a:r>
              <a:rPr lang="en-US" sz="1100" b="1" dirty="0">
                <a:solidFill>
                  <a:srgbClr val="5B6B77"/>
                </a:solidFill>
                <a:latin typeface="Calibri" pitchFamily="34" charset="0"/>
                <a:ea typeface="Calibri" pitchFamily="34" charset="-122"/>
                <a:cs typeface="Calibri" pitchFamily="34" charset="-120"/>
              </a:rPr>
              <a:t>URL:</a:t>
            </a:r>
            <a:endParaRPr lang="en-US" sz="1100" dirty="0"/>
          </a:p>
        </p:txBody>
      </p:sp>
      <p:sp>
        <p:nvSpPr>
          <p:cNvPr id="12" name="Text 10"/>
          <p:cNvSpPr txBox="1"/>
          <p:nvPr/>
        </p:nvSpPr>
        <p:spPr>
          <a:xfrm>
            <a:off x="868680" y="4206240"/>
            <a:ext cx="4754880" cy="365760"/>
          </a:xfrm>
          <a:prstGeom prst="rect">
            <a:avLst/>
          </a:prstGeom>
          <a:noFill/>
          <a:ln/>
        </p:spPr>
        <p:txBody>
          <a:bodyPr wrap="square" lIns="0" tIns="0" rIns="0" bIns="0" rtlCol="0" anchor="ctr"/>
          <a:lstStyle/>
          <a:p>
            <a:pPr marL="0" indent="0">
              <a:buNone/>
            </a:pPr>
            <a:r>
              <a:rPr lang="en-US" sz="1050" dirty="0">
                <a:solidFill>
                  <a:srgbClr val="065A82"/>
                </a:solidFill>
                <a:latin typeface="Courier New" pitchFamily="34" charset="0"/>
                <a:ea typeface="Courier New" pitchFamily="34" charset="-122"/>
                <a:cs typeface="Courier New" pitchFamily="34" charset="-120"/>
              </a:rPr>
              <a:t>https://student-release-hub-2026.azurewebsites.net/</a:t>
            </a:r>
            <a:endParaRPr lang="en-US" sz="1050" dirty="0"/>
          </a:p>
        </p:txBody>
      </p:sp>
      <p:sp>
        <p:nvSpPr>
          <p:cNvPr id="13" name="Text 11"/>
          <p:cNvSpPr txBox="1"/>
          <p:nvPr/>
        </p:nvSpPr>
        <p:spPr>
          <a:xfrm>
            <a:off x="868680" y="4663440"/>
            <a:ext cx="4754880" cy="320040"/>
          </a:xfrm>
          <a:prstGeom prst="rect">
            <a:avLst/>
          </a:prstGeom>
          <a:noFill/>
          <a:ln/>
        </p:spPr>
        <p:txBody>
          <a:bodyPr wrap="square" lIns="0" tIns="0" rIns="0" bIns="0" rtlCol="0" anchor="ctr"/>
          <a:lstStyle/>
          <a:p>
            <a:pPr marL="0" indent="0">
              <a:buNone/>
            </a:pPr>
            <a:r>
              <a:rPr lang="en-US" sz="1100" i="1" dirty="0">
                <a:solidFill>
                  <a:srgbClr val="5B6B77"/>
                </a:solidFill>
                <a:latin typeface="Calibri" pitchFamily="34" charset="0"/>
                <a:ea typeface="Calibri" pitchFamily="34" charset="-122"/>
                <a:cs typeface="Calibri" pitchFamily="34" charset="-120"/>
              </a:rPr>
              <a:t>Setting:  DEPLOYMENT_SLOT = production</a:t>
            </a:r>
            <a:endParaRPr lang="en-US" sz="1100" dirty="0"/>
          </a:p>
        </p:txBody>
      </p:sp>
      <p:sp>
        <p:nvSpPr>
          <p:cNvPr id="14" name="Shape 12"/>
          <p:cNvSpPr/>
          <p:nvPr/>
        </p:nvSpPr>
        <p:spPr>
          <a:xfrm>
            <a:off x="6217920" y="2423160"/>
            <a:ext cx="5394960" cy="2743200"/>
          </a:xfrm>
          <a:prstGeom prst="roundRect">
            <a:avLst>
              <a:gd name="adj" fmla="val 3333"/>
            </a:avLst>
          </a:prstGeom>
          <a:solidFill>
            <a:srgbClr val="FFFFFF"/>
          </a:solidFill>
          <a:ln w="19050">
            <a:solidFill>
              <a:srgbClr val="1C7293"/>
            </a:solidFill>
            <a:prstDash val="solid"/>
          </a:ln>
        </p:spPr>
      </p:sp>
      <p:sp>
        <p:nvSpPr>
          <p:cNvPr id="15" name="Shape 13"/>
          <p:cNvSpPr/>
          <p:nvPr/>
        </p:nvSpPr>
        <p:spPr>
          <a:xfrm>
            <a:off x="6537960" y="2697480"/>
            <a:ext cx="1920240" cy="384048"/>
          </a:xfrm>
          <a:prstGeom prst="roundRect">
            <a:avLst>
              <a:gd name="adj" fmla="val 50000"/>
            </a:avLst>
          </a:prstGeom>
          <a:solidFill>
            <a:srgbClr val="1C7293"/>
          </a:solidFill>
          <a:ln/>
        </p:spPr>
      </p:sp>
      <p:sp>
        <p:nvSpPr>
          <p:cNvPr id="16" name="Text 14"/>
          <p:cNvSpPr txBox="1"/>
          <p:nvPr/>
        </p:nvSpPr>
        <p:spPr>
          <a:xfrm>
            <a:off x="6537960" y="2697480"/>
            <a:ext cx="19202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STAGING</a:t>
            </a:r>
            <a:endParaRPr lang="en-US" sz="1200" dirty="0"/>
          </a:p>
        </p:txBody>
      </p:sp>
      <p:sp>
        <p:nvSpPr>
          <p:cNvPr id="17" name="Text 15"/>
          <p:cNvSpPr txBox="1"/>
          <p:nvPr/>
        </p:nvSpPr>
        <p:spPr>
          <a:xfrm>
            <a:off x="6537960" y="3291840"/>
            <a:ext cx="4754880" cy="54864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Isolated validation environment for new releases before promotion.</a:t>
            </a:r>
            <a:endParaRPr lang="en-US" sz="1250" dirty="0"/>
          </a:p>
        </p:txBody>
      </p:sp>
      <p:sp>
        <p:nvSpPr>
          <p:cNvPr id="18" name="Text 16"/>
          <p:cNvSpPr txBox="1"/>
          <p:nvPr/>
        </p:nvSpPr>
        <p:spPr>
          <a:xfrm>
            <a:off x="6537960" y="3931920"/>
            <a:ext cx="548640" cy="274320"/>
          </a:xfrm>
          <a:prstGeom prst="rect">
            <a:avLst/>
          </a:prstGeom>
          <a:noFill/>
          <a:ln/>
        </p:spPr>
        <p:txBody>
          <a:bodyPr wrap="square" lIns="0" tIns="0" rIns="0" bIns="0" rtlCol="0" anchor="ctr"/>
          <a:lstStyle/>
          <a:p>
            <a:pPr marL="0" indent="0">
              <a:buNone/>
            </a:pPr>
            <a:r>
              <a:rPr lang="en-US" sz="1100" b="1" dirty="0">
                <a:solidFill>
                  <a:srgbClr val="5B6B77"/>
                </a:solidFill>
                <a:latin typeface="Calibri" pitchFamily="34" charset="0"/>
                <a:ea typeface="Calibri" pitchFamily="34" charset="-122"/>
                <a:cs typeface="Calibri" pitchFamily="34" charset="-120"/>
              </a:rPr>
              <a:t>URL:</a:t>
            </a:r>
            <a:endParaRPr lang="en-US" sz="1100" dirty="0"/>
          </a:p>
        </p:txBody>
      </p:sp>
      <p:sp>
        <p:nvSpPr>
          <p:cNvPr id="19" name="Text 17"/>
          <p:cNvSpPr txBox="1"/>
          <p:nvPr/>
        </p:nvSpPr>
        <p:spPr>
          <a:xfrm>
            <a:off x="6537960" y="4206240"/>
            <a:ext cx="4937760" cy="365760"/>
          </a:xfrm>
          <a:prstGeom prst="rect">
            <a:avLst/>
          </a:prstGeom>
          <a:noFill/>
          <a:ln/>
        </p:spPr>
        <p:txBody>
          <a:bodyPr wrap="square" lIns="0" tIns="0" rIns="0" bIns="0" rtlCol="0" anchor="ctr"/>
          <a:lstStyle/>
          <a:p>
            <a:pPr marL="0" indent="0">
              <a:buNone/>
            </a:pPr>
            <a:r>
              <a:rPr lang="en-US" sz="1050" dirty="0">
                <a:solidFill>
                  <a:srgbClr val="1C7293"/>
                </a:solidFill>
                <a:latin typeface="Courier New" pitchFamily="34" charset="0"/>
                <a:ea typeface="Courier New" pitchFamily="34" charset="-122"/>
                <a:cs typeface="Courier New" pitchFamily="34" charset="-120"/>
              </a:rPr>
              <a:t>https://student-release-hub-2026-staging.azurewebsites.net/</a:t>
            </a:r>
            <a:endParaRPr lang="en-US" sz="1050" dirty="0"/>
          </a:p>
        </p:txBody>
      </p:sp>
      <p:sp>
        <p:nvSpPr>
          <p:cNvPr id="20" name="Text 18"/>
          <p:cNvSpPr txBox="1"/>
          <p:nvPr/>
        </p:nvSpPr>
        <p:spPr>
          <a:xfrm>
            <a:off x="6537960" y="4663440"/>
            <a:ext cx="4754880" cy="320040"/>
          </a:xfrm>
          <a:prstGeom prst="rect">
            <a:avLst/>
          </a:prstGeom>
          <a:noFill/>
          <a:ln/>
        </p:spPr>
        <p:txBody>
          <a:bodyPr wrap="square" lIns="0" tIns="0" rIns="0" bIns="0" rtlCol="0" anchor="ctr"/>
          <a:lstStyle/>
          <a:p>
            <a:pPr marL="0" indent="0">
              <a:buNone/>
            </a:pPr>
            <a:r>
              <a:rPr lang="en-US" sz="1100" i="1" dirty="0">
                <a:solidFill>
                  <a:srgbClr val="5B6B77"/>
                </a:solidFill>
                <a:latin typeface="Calibri" pitchFamily="34" charset="0"/>
                <a:ea typeface="Calibri" pitchFamily="34" charset="-122"/>
                <a:cs typeface="Calibri" pitchFamily="34" charset="-120"/>
              </a:rPr>
              <a:t>Setting:  DEPLOYMENT_SLOT = staging</a:t>
            </a:r>
            <a:endParaRPr lang="en-US" sz="1100" dirty="0"/>
          </a:p>
        </p:txBody>
      </p:sp>
      <p:sp>
        <p:nvSpPr>
          <p:cNvPr id="22" name="Text 20"/>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23" name="Text 21"/>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HEALTH VALIDATION &amp; WARM-UP</a:t>
            </a:r>
            <a:endParaRPr lang="en-US" sz="1100" dirty="0"/>
          </a:p>
        </p:txBody>
      </p:sp>
      <p:sp>
        <p:nvSpPr>
          <p:cNvPr id="4" name="Text 2"/>
          <p:cNvSpPr txBox="1"/>
          <p:nvPr/>
        </p:nvSpPr>
        <p:spPr>
          <a:xfrm>
            <a:off x="548640" y="960120"/>
            <a:ext cx="10515600" cy="457200"/>
          </a:xfrm>
          <a:prstGeom prst="rect">
            <a:avLst/>
          </a:prstGeom>
          <a:noFill/>
          <a:ln/>
        </p:spPr>
        <p:txBody>
          <a:bodyPr wrap="square" lIns="0" tIns="0" rIns="0" bIns="0" rtlCol="0" anchor="ctr"/>
          <a:lstStyle/>
          <a:p>
            <a:pPr marL="0" indent="0">
              <a:buNone/>
            </a:pPr>
            <a:r>
              <a:rPr lang="en-US" sz="2200" b="1" dirty="0">
                <a:solidFill>
                  <a:srgbClr val="1A2733"/>
                </a:solidFill>
                <a:latin typeface="Cambria" pitchFamily="34" charset="0"/>
                <a:ea typeface="Cambria" pitchFamily="34" charset="-122"/>
                <a:cs typeface="Cambria" pitchFamily="34" charset="-120"/>
              </a:rPr>
              <a:t>Addressing Bottleneck #2 — warm-up not configured</a:t>
            </a:r>
            <a:endParaRPr lang="en-US" sz="2200" dirty="0"/>
          </a:p>
        </p:txBody>
      </p:sp>
      <p:sp>
        <p:nvSpPr>
          <p:cNvPr id="5" name="Shape 3"/>
          <p:cNvSpPr/>
          <p:nvPr/>
        </p:nvSpPr>
        <p:spPr>
          <a:xfrm>
            <a:off x="548640" y="1691640"/>
            <a:ext cx="5394960" cy="4206240"/>
          </a:xfrm>
          <a:prstGeom prst="roundRect">
            <a:avLst>
              <a:gd name="adj" fmla="val 2174"/>
            </a:avLst>
          </a:prstGeom>
          <a:solidFill>
            <a:srgbClr val="0B2A3D"/>
          </a:solidFill>
          <a:ln/>
        </p:spPr>
      </p:sp>
      <p:sp>
        <p:nvSpPr>
          <p:cNvPr id="6" name="Text 4"/>
          <p:cNvSpPr txBox="1"/>
          <p:nvPr/>
        </p:nvSpPr>
        <p:spPr>
          <a:xfrm>
            <a:off x="777240" y="1874520"/>
            <a:ext cx="4937760" cy="320040"/>
          </a:xfrm>
          <a:prstGeom prst="rect">
            <a:avLst/>
          </a:prstGeom>
          <a:noFill/>
          <a:ln/>
        </p:spPr>
        <p:txBody>
          <a:bodyPr wrap="square" lIns="0" tIns="0" rIns="0" bIns="0" rtlCol="0" anchor="ctr"/>
          <a:lstStyle/>
          <a:p>
            <a:pPr marL="0" indent="0">
              <a:buNone/>
            </a:pPr>
            <a:r>
              <a:rPr lang="en-US" sz="1200" b="1" kern="0" spc="100" dirty="0">
                <a:solidFill>
                  <a:srgbClr val="21C3A4"/>
                </a:solidFill>
                <a:latin typeface="Calibri" pitchFamily="34" charset="0"/>
                <a:ea typeface="Calibri" pitchFamily="34" charset="-122"/>
                <a:cs typeface="Calibri" pitchFamily="34" charset="-120"/>
              </a:rPr>
              <a:t>APP SERVICE CONFIGURATION</a:t>
            </a:r>
            <a:endParaRPr lang="en-US" sz="1200" dirty="0"/>
          </a:p>
        </p:txBody>
      </p:sp>
      <p:sp>
        <p:nvSpPr>
          <p:cNvPr id="7" name="Text 5"/>
          <p:cNvSpPr txBox="1"/>
          <p:nvPr/>
        </p:nvSpPr>
        <p:spPr>
          <a:xfrm>
            <a:off x="777240" y="2331720"/>
            <a:ext cx="493776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Health Check path</a:t>
            </a:r>
            <a:endParaRPr lang="en-US" sz="1200" dirty="0"/>
          </a:p>
        </p:txBody>
      </p:sp>
      <p:sp>
        <p:nvSpPr>
          <p:cNvPr id="8" name="Shape 6"/>
          <p:cNvSpPr/>
          <p:nvPr/>
        </p:nvSpPr>
        <p:spPr>
          <a:xfrm>
            <a:off x="777240" y="2651760"/>
            <a:ext cx="4937760" cy="457200"/>
          </a:xfrm>
          <a:prstGeom prst="roundRect">
            <a:avLst>
              <a:gd name="adj" fmla="val 12000"/>
            </a:avLst>
          </a:prstGeom>
          <a:solidFill>
            <a:srgbClr val="0F3A52"/>
          </a:solidFill>
          <a:ln w="12700">
            <a:solidFill>
              <a:srgbClr val="1C7293"/>
            </a:solidFill>
            <a:prstDash val="solid"/>
          </a:ln>
        </p:spPr>
      </p:sp>
      <p:sp>
        <p:nvSpPr>
          <p:cNvPr id="9" name="Text 7"/>
          <p:cNvSpPr txBox="1"/>
          <p:nvPr/>
        </p:nvSpPr>
        <p:spPr>
          <a:xfrm>
            <a:off x="868680" y="2651760"/>
            <a:ext cx="4754880" cy="45720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/actuator/health</a:t>
            </a:r>
            <a:endParaRPr lang="en-US" sz="1300" dirty="0"/>
          </a:p>
        </p:txBody>
      </p:sp>
      <p:sp>
        <p:nvSpPr>
          <p:cNvPr id="10" name="Text 8"/>
          <p:cNvSpPr txBox="1"/>
          <p:nvPr/>
        </p:nvSpPr>
        <p:spPr>
          <a:xfrm>
            <a:off x="777240" y="3429000"/>
            <a:ext cx="493776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WEBSITE_SWAP_WARMUP_PING_PATH</a:t>
            </a:r>
            <a:endParaRPr lang="en-US" sz="1200" dirty="0"/>
          </a:p>
        </p:txBody>
      </p:sp>
      <p:sp>
        <p:nvSpPr>
          <p:cNvPr id="11" name="Shape 9"/>
          <p:cNvSpPr/>
          <p:nvPr/>
        </p:nvSpPr>
        <p:spPr>
          <a:xfrm>
            <a:off x="777240" y="3749040"/>
            <a:ext cx="4937760" cy="457200"/>
          </a:xfrm>
          <a:prstGeom prst="roundRect">
            <a:avLst>
              <a:gd name="adj" fmla="val 12000"/>
            </a:avLst>
          </a:prstGeom>
          <a:solidFill>
            <a:srgbClr val="0F3A52"/>
          </a:solidFill>
          <a:ln w="12700">
            <a:solidFill>
              <a:srgbClr val="1C7293"/>
            </a:solidFill>
            <a:prstDash val="solid"/>
          </a:ln>
        </p:spPr>
      </p:sp>
      <p:sp>
        <p:nvSpPr>
          <p:cNvPr id="12" name="Text 10"/>
          <p:cNvSpPr txBox="1"/>
          <p:nvPr/>
        </p:nvSpPr>
        <p:spPr>
          <a:xfrm>
            <a:off x="868680" y="3749040"/>
            <a:ext cx="4754880" cy="45720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/actuator/health</a:t>
            </a:r>
            <a:endParaRPr lang="en-US" sz="1300" dirty="0"/>
          </a:p>
        </p:txBody>
      </p:sp>
      <p:sp>
        <p:nvSpPr>
          <p:cNvPr id="13" name="Text 11"/>
          <p:cNvSpPr txBox="1"/>
          <p:nvPr/>
        </p:nvSpPr>
        <p:spPr>
          <a:xfrm>
            <a:off x="777240" y="4526280"/>
            <a:ext cx="493776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WEBSITE_SWAP_WARMUP_PING_STATUSES</a:t>
            </a:r>
            <a:endParaRPr lang="en-US" sz="1200" dirty="0"/>
          </a:p>
        </p:txBody>
      </p:sp>
      <p:sp>
        <p:nvSpPr>
          <p:cNvPr id="14" name="Shape 12"/>
          <p:cNvSpPr/>
          <p:nvPr/>
        </p:nvSpPr>
        <p:spPr>
          <a:xfrm>
            <a:off x="777240" y="4846320"/>
            <a:ext cx="4937760" cy="457200"/>
          </a:xfrm>
          <a:prstGeom prst="roundRect">
            <a:avLst>
              <a:gd name="adj" fmla="val 12000"/>
            </a:avLst>
          </a:prstGeom>
          <a:solidFill>
            <a:srgbClr val="0F3A52"/>
          </a:solidFill>
          <a:ln w="12700">
            <a:solidFill>
              <a:srgbClr val="1C7293"/>
            </a:solidFill>
            <a:prstDash val="solid"/>
          </a:ln>
        </p:spPr>
      </p:sp>
      <p:sp>
        <p:nvSpPr>
          <p:cNvPr id="15" name="Text 13"/>
          <p:cNvSpPr txBox="1"/>
          <p:nvPr/>
        </p:nvSpPr>
        <p:spPr>
          <a:xfrm>
            <a:off x="868680" y="4846320"/>
            <a:ext cx="4754880" cy="45720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200</a:t>
            </a:r>
            <a:endParaRPr lang="en-US" sz="1300" dirty="0"/>
          </a:p>
        </p:txBody>
      </p:sp>
      <p:sp>
        <p:nvSpPr>
          <p:cNvPr id="16" name="Text 14"/>
          <p:cNvSpPr txBox="1"/>
          <p:nvPr/>
        </p:nvSpPr>
        <p:spPr>
          <a:xfrm>
            <a:off x="777240" y="5486400"/>
            <a:ext cx="4937760" cy="365760"/>
          </a:xfrm>
          <a:prstGeom prst="rect">
            <a:avLst/>
          </a:prstGeom>
          <a:noFill/>
          <a:ln/>
        </p:spPr>
        <p:txBody>
          <a:bodyPr wrap="square" lIns="0" tIns="0" rIns="0" bIns="0" rtlCol="0" anchor="ctr"/>
          <a:lstStyle/>
          <a:p>
            <a:pPr marL="0" indent="0">
              <a:buNone/>
            </a:pPr>
            <a:r>
              <a:rPr lang="en-US" sz="1050" i="1" dirty="0">
                <a:solidFill>
                  <a:srgbClr val="9FB4C4"/>
                </a:solidFill>
                <a:latin typeface="Calibri" pitchFamily="34" charset="0"/>
                <a:ea typeface="Calibri" pitchFamily="34" charset="-122"/>
                <a:cs typeface="Calibri" pitchFamily="34" charset="-120"/>
              </a:rPr>
              <a:t>Before a slot swap, Azure warms up the new version and confirms it responds HTTP 200 on this path — exactly the missing piece the bottleneck describes.</a:t>
            </a:r>
            <a:endParaRPr lang="en-US" sz="1050" dirty="0"/>
          </a:p>
        </p:txBody>
      </p:sp>
      <p:sp>
        <p:nvSpPr>
          <p:cNvPr id="17" name="Shape 15"/>
          <p:cNvSpPr/>
          <p:nvPr/>
        </p:nvSpPr>
        <p:spPr>
          <a:xfrm>
            <a:off x="6217920" y="1691640"/>
            <a:ext cx="5394960" cy="4206240"/>
          </a:xfrm>
          <a:prstGeom prst="roundRect">
            <a:avLst>
              <a:gd name="adj" fmla="val 2174"/>
            </a:avLst>
          </a:prstGeom>
          <a:solidFill>
            <a:srgbClr val="FFFFFF"/>
          </a:solidFill>
          <a:ln w="12700">
            <a:solidFill>
              <a:srgbClr val="DCE6EC"/>
            </a:solidFill>
            <a:prstDash val="solid"/>
          </a:ln>
        </p:spPr>
      </p:sp>
      <p:sp>
        <p:nvSpPr>
          <p:cNvPr id="18" name="Text 16"/>
          <p:cNvSpPr txBox="1"/>
          <p:nvPr/>
        </p:nvSpPr>
        <p:spPr>
          <a:xfrm>
            <a:off x="6446520" y="1874520"/>
            <a:ext cx="4937760" cy="320040"/>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VERIFIED VALIDATION RESULT</a:t>
            </a:r>
            <a:endParaRPr lang="en-US" sz="1200" dirty="0"/>
          </a:p>
        </p:txBody>
      </p:sp>
      <p:sp>
        <p:nvSpPr>
          <p:cNvPr id="19" name="Shape 17"/>
          <p:cNvSpPr/>
          <p:nvPr/>
        </p:nvSpPr>
        <p:spPr>
          <a:xfrm>
            <a:off x="6446520" y="2331720"/>
            <a:ext cx="4937760" cy="868680"/>
          </a:xfrm>
          <a:prstGeom prst="roundRect">
            <a:avLst>
              <a:gd name="adj" fmla="val 8421"/>
            </a:avLst>
          </a:prstGeom>
          <a:solidFill>
            <a:srgbClr val="E7F3EF"/>
          </a:solidFill>
          <a:ln w="12700">
            <a:solidFill>
              <a:srgbClr val="21C3A4"/>
            </a:solidFill>
            <a:prstDash val="solid"/>
          </a:ln>
        </p:spPr>
      </p:sp>
      <p:sp>
        <p:nvSpPr>
          <p:cNvPr id="20" name="Text 18"/>
          <p:cNvSpPr txBox="1"/>
          <p:nvPr/>
        </p:nvSpPr>
        <p:spPr>
          <a:xfrm>
            <a:off x="6629400" y="2441448"/>
            <a:ext cx="2743200" cy="320040"/>
          </a:xfrm>
          <a:prstGeom prst="rect">
            <a:avLst/>
          </a:prstGeom>
          <a:noFill/>
          <a:ln/>
        </p:spPr>
        <p:txBody>
          <a:bodyPr wrap="square" lIns="0" tIns="0" rIns="0" bIns="0" rtlCol="0" anchor="ctr"/>
          <a:lstStyle/>
          <a:p>
            <a:pPr marL="0" indent="0">
              <a:buNone/>
            </a:pPr>
            <a:r>
              <a:rPr lang="en-US" sz="1200" dirty="0">
                <a:solidFill>
                  <a:srgbClr val="5B6B77"/>
                </a:solidFill>
                <a:latin typeface="Calibri" pitchFamily="34" charset="0"/>
                <a:ea typeface="Calibri" pitchFamily="34" charset="-122"/>
                <a:cs typeface="Calibri" pitchFamily="34" charset="-120"/>
              </a:rPr>
              <a:t>status</a:t>
            </a:r>
            <a:endParaRPr lang="en-US" sz="1200" dirty="0"/>
          </a:p>
        </p:txBody>
      </p:sp>
      <p:sp>
        <p:nvSpPr>
          <p:cNvPr id="21" name="Text 19"/>
          <p:cNvSpPr txBox="1"/>
          <p:nvPr/>
        </p:nvSpPr>
        <p:spPr>
          <a:xfrm>
            <a:off x="6629400" y="2715768"/>
            <a:ext cx="4572000" cy="411480"/>
          </a:xfrm>
          <a:prstGeom prst="rect">
            <a:avLst/>
          </a:prstGeom>
          <a:noFill/>
          <a:ln/>
        </p:spPr>
        <p:txBody>
          <a:bodyPr wrap="square" lIns="0" tIns="0" rIns="0" bIns="0" rtlCol="0" anchor="ctr"/>
          <a:lstStyle/>
          <a:p>
            <a:pPr marL="0" indent="0">
              <a:buNone/>
            </a:pPr>
            <a:r>
              <a:rPr lang="en-US" sz="1800" b="1" dirty="0">
                <a:solidFill>
                  <a:srgbClr val="0E7A5F"/>
                </a:solidFill>
                <a:latin typeface="Courier New" pitchFamily="34" charset="0"/>
                <a:ea typeface="Courier New" pitchFamily="34" charset="-122"/>
                <a:cs typeface="Courier New" pitchFamily="34" charset="-120"/>
              </a:rPr>
              <a:t>UP</a:t>
            </a:r>
            <a:endParaRPr lang="en-US" sz="1800" dirty="0"/>
          </a:p>
        </p:txBody>
      </p:sp>
      <p:sp>
        <p:nvSpPr>
          <p:cNvPr id="22" name="Shape 20"/>
          <p:cNvSpPr/>
          <p:nvPr/>
        </p:nvSpPr>
        <p:spPr>
          <a:xfrm>
            <a:off x="6446520" y="3429000"/>
            <a:ext cx="4937760" cy="868680"/>
          </a:xfrm>
          <a:prstGeom prst="roundRect">
            <a:avLst>
              <a:gd name="adj" fmla="val 8421"/>
            </a:avLst>
          </a:prstGeom>
          <a:solidFill>
            <a:srgbClr val="E7F3EF"/>
          </a:solidFill>
          <a:ln w="12700">
            <a:solidFill>
              <a:srgbClr val="21C3A4"/>
            </a:solidFill>
            <a:prstDash val="solid"/>
          </a:ln>
        </p:spPr>
      </p:sp>
      <p:sp>
        <p:nvSpPr>
          <p:cNvPr id="23" name="Text 21"/>
          <p:cNvSpPr txBox="1"/>
          <p:nvPr/>
        </p:nvSpPr>
        <p:spPr>
          <a:xfrm>
            <a:off x="6629400" y="3538728"/>
            <a:ext cx="2743200" cy="320040"/>
          </a:xfrm>
          <a:prstGeom prst="rect">
            <a:avLst/>
          </a:prstGeom>
          <a:noFill/>
          <a:ln/>
        </p:spPr>
        <p:txBody>
          <a:bodyPr wrap="square" lIns="0" tIns="0" rIns="0" bIns="0" rtlCol="0" anchor="ctr"/>
          <a:lstStyle/>
          <a:p>
            <a:pPr marL="0" indent="0">
              <a:buNone/>
            </a:pPr>
            <a:r>
              <a:rPr lang="en-US" sz="1200" dirty="0">
                <a:solidFill>
                  <a:srgbClr val="5B6B77"/>
                </a:solidFill>
                <a:latin typeface="Calibri" pitchFamily="34" charset="0"/>
                <a:ea typeface="Calibri" pitchFamily="34" charset="-122"/>
                <a:cs typeface="Calibri" pitchFamily="34" charset="-120"/>
              </a:rPr>
              <a:t>warmupStatus</a:t>
            </a:r>
            <a:endParaRPr lang="en-US" sz="1200" dirty="0"/>
          </a:p>
        </p:txBody>
      </p:sp>
      <p:sp>
        <p:nvSpPr>
          <p:cNvPr id="24" name="Text 22"/>
          <p:cNvSpPr txBox="1"/>
          <p:nvPr/>
        </p:nvSpPr>
        <p:spPr>
          <a:xfrm>
            <a:off x="6629400" y="3813048"/>
            <a:ext cx="4572000" cy="411480"/>
          </a:xfrm>
          <a:prstGeom prst="rect">
            <a:avLst/>
          </a:prstGeom>
          <a:noFill/>
          <a:ln/>
        </p:spPr>
        <p:txBody>
          <a:bodyPr wrap="square" lIns="0" tIns="0" rIns="0" bIns="0" rtlCol="0" anchor="ctr"/>
          <a:lstStyle/>
          <a:p>
            <a:pPr marL="0" indent="0">
              <a:buNone/>
            </a:pPr>
            <a:r>
              <a:rPr lang="en-US" sz="1800" b="1" dirty="0">
                <a:solidFill>
                  <a:srgbClr val="0E7A5F"/>
                </a:solidFill>
                <a:latin typeface="Courier New" pitchFamily="34" charset="0"/>
                <a:ea typeface="Courier New" pitchFamily="34" charset="-122"/>
                <a:cs typeface="Courier New" pitchFamily="34" charset="-120"/>
              </a:rPr>
              <a:t>READY</a:t>
            </a:r>
            <a:endParaRPr lang="en-US" sz="1800" dirty="0"/>
          </a:p>
        </p:txBody>
      </p:sp>
      <p:sp>
        <p:nvSpPr>
          <p:cNvPr id="25" name="Shape 23"/>
          <p:cNvSpPr/>
          <p:nvPr/>
        </p:nvSpPr>
        <p:spPr>
          <a:xfrm>
            <a:off x="6446520" y="4526280"/>
            <a:ext cx="4937760" cy="868680"/>
          </a:xfrm>
          <a:prstGeom prst="roundRect">
            <a:avLst>
              <a:gd name="adj" fmla="val 8421"/>
            </a:avLst>
          </a:prstGeom>
          <a:solidFill>
            <a:srgbClr val="E7F3EF"/>
          </a:solidFill>
          <a:ln w="12700">
            <a:solidFill>
              <a:srgbClr val="21C3A4"/>
            </a:solidFill>
            <a:prstDash val="solid"/>
          </a:ln>
        </p:spPr>
      </p:sp>
      <p:sp>
        <p:nvSpPr>
          <p:cNvPr id="26" name="Text 24"/>
          <p:cNvSpPr txBox="1"/>
          <p:nvPr/>
        </p:nvSpPr>
        <p:spPr>
          <a:xfrm>
            <a:off x="6629400" y="4636008"/>
            <a:ext cx="2743200" cy="320040"/>
          </a:xfrm>
          <a:prstGeom prst="rect">
            <a:avLst/>
          </a:prstGeom>
          <a:noFill/>
          <a:ln/>
        </p:spPr>
        <p:txBody>
          <a:bodyPr wrap="square" lIns="0" tIns="0" rIns="0" bIns="0" rtlCol="0" anchor="ctr"/>
          <a:lstStyle/>
          <a:p>
            <a:pPr marL="0" indent="0">
              <a:buNone/>
            </a:pPr>
            <a:r>
              <a:rPr lang="en-US" sz="1200" dirty="0">
                <a:solidFill>
                  <a:srgbClr val="5B6B77"/>
                </a:solidFill>
                <a:latin typeface="Calibri" pitchFamily="34" charset="0"/>
                <a:ea typeface="Calibri" pitchFamily="34" charset="-122"/>
                <a:cs typeface="Calibri" pitchFamily="34" charset="-120"/>
              </a:rPr>
              <a:t>swapValidation</a:t>
            </a:r>
            <a:endParaRPr lang="en-US" sz="1200" dirty="0"/>
          </a:p>
        </p:txBody>
      </p:sp>
      <p:sp>
        <p:nvSpPr>
          <p:cNvPr id="27" name="Text 25"/>
          <p:cNvSpPr txBox="1"/>
          <p:nvPr/>
        </p:nvSpPr>
        <p:spPr>
          <a:xfrm>
            <a:off x="6629400" y="4910328"/>
            <a:ext cx="4572000" cy="411480"/>
          </a:xfrm>
          <a:prstGeom prst="rect">
            <a:avLst/>
          </a:prstGeom>
          <a:noFill/>
          <a:ln/>
        </p:spPr>
        <p:txBody>
          <a:bodyPr wrap="square" lIns="0" tIns="0" rIns="0" bIns="0" rtlCol="0" anchor="ctr"/>
          <a:lstStyle/>
          <a:p>
            <a:pPr marL="0" indent="0">
              <a:buNone/>
            </a:pPr>
            <a:r>
              <a:rPr lang="en-US" sz="1800" b="1" dirty="0">
                <a:solidFill>
                  <a:srgbClr val="0E7A5F"/>
                </a:solidFill>
                <a:latin typeface="Courier New" pitchFamily="34" charset="0"/>
                <a:ea typeface="Courier New" pitchFamily="34" charset="-122"/>
                <a:cs typeface="Courier New" pitchFamily="34" charset="-120"/>
              </a:rPr>
              <a:t>PASSED</a:t>
            </a:r>
            <a:endParaRPr lang="en-US" sz="1800" dirty="0"/>
          </a:p>
        </p:txBody>
      </p:sp>
      <p:sp>
        <p:nvSpPr>
          <p:cNvPr id="28" name="Text 26"/>
          <p:cNvSpPr txBox="1"/>
          <p:nvPr/>
        </p:nvSpPr>
        <p:spPr>
          <a:xfrm>
            <a:off x="6446520" y="5486400"/>
            <a:ext cx="4937760" cy="365760"/>
          </a:xfrm>
          <a:prstGeom prst="rect">
            <a:avLst/>
          </a:prstGeom>
          <a:noFill/>
          <a:ln/>
        </p:spPr>
        <p:txBody>
          <a:bodyPr wrap="square" lIns="0" tIns="0" rIns="0" bIns="0" rtlCol="0" anchor="ctr"/>
          <a:lstStyle/>
          <a:p>
            <a:pPr marL="0" indent="0">
              <a:buNone/>
            </a:pPr>
            <a:r>
              <a:rPr lang="en-US" sz="1050" i="1" dirty="0">
                <a:solidFill>
                  <a:srgbClr val="5B6B77"/>
                </a:solidFill>
                <a:latin typeface="Calibri" pitchFamily="34" charset="0"/>
                <a:ea typeface="Calibri" pitchFamily="34" charset="-122"/>
                <a:cs typeface="Calibri" pitchFamily="34" charset="-120"/>
              </a:rPr>
              <a:t>HTTP 200 confirmed on both Production and Staging.</a:t>
            </a:r>
            <a:endParaRPr lang="en-US" sz="1050" dirty="0"/>
          </a:p>
        </p:txBody>
      </p:sp>
      <p:sp>
        <p:nvSpPr>
          <p:cNvPr id="29" name="Text 27"/>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30" name="Text 28"/>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SLOT-SPECIFIC SETTINGS</a:t>
            </a:r>
            <a:endParaRPr lang="en-US" sz="1100" dirty="0"/>
          </a:p>
        </p:txBody>
      </p:sp>
      <p:sp>
        <p:nvSpPr>
          <p:cNvPr id="4" name="Text 2"/>
          <p:cNvSpPr txBox="1"/>
          <p:nvPr/>
        </p:nvSpPr>
        <p:spPr>
          <a:xfrm>
            <a:off x="548640" y="960120"/>
            <a:ext cx="10515600" cy="457200"/>
          </a:xfrm>
          <a:prstGeom prst="rect">
            <a:avLst/>
          </a:prstGeom>
          <a:noFill/>
          <a:ln/>
        </p:spPr>
        <p:txBody>
          <a:bodyPr wrap="square" lIns="0" tIns="0" rIns="0" bIns="0" rtlCol="0" anchor="ctr"/>
          <a:lstStyle/>
          <a:p>
            <a:pPr marL="0" indent="0">
              <a:buNone/>
            </a:pPr>
            <a:r>
              <a:rPr lang="en-US" sz="2200" b="1" dirty="0">
                <a:solidFill>
                  <a:srgbClr val="1A2733"/>
                </a:solidFill>
                <a:latin typeface="Cambria" pitchFamily="34" charset="0"/>
                <a:ea typeface="Cambria" pitchFamily="34" charset="-122"/>
                <a:cs typeface="Cambria" pitchFamily="34" charset="-120"/>
              </a:rPr>
              <a:t>Addressing Bottleneck #1 — settings after swap</a:t>
            </a:r>
            <a:endParaRPr lang="en-US" sz="2200" dirty="0"/>
          </a:p>
        </p:txBody>
      </p:sp>
      <p:sp>
        <p:nvSpPr>
          <p:cNvPr id="5" name="Text 3"/>
          <p:cNvSpPr txBox="1"/>
          <p:nvPr/>
        </p:nvSpPr>
        <p:spPr>
          <a:xfrm>
            <a:off x="548640" y="1600200"/>
            <a:ext cx="10972800" cy="457200"/>
          </a:xfrm>
          <a:prstGeom prst="rect">
            <a:avLst/>
          </a:prstGeom>
          <a:noFill/>
          <a:ln/>
        </p:spPr>
        <p:txBody>
          <a:bodyPr wrap="square" lIns="0" tIns="0" rIns="0" bIns="0" rtlCol="0" anchor="ctr"/>
          <a:lstStyle/>
          <a:p>
            <a:pPr marL="0" indent="0">
              <a:buNone/>
            </a:pPr>
            <a:r>
              <a:rPr lang="en-US" sz="1300" i="1" dirty="0">
                <a:solidFill>
                  <a:srgbClr val="5B6B77"/>
                </a:solidFill>
                <a:latin typeface="Calibri" pitchFamily="34" charset="0"/>
                <a:ea typeface="Calibri" pitchFamily="34" charset="-122"/>
                <a:cs typeface="Calibri" pitchFamily="34" charset="-120"/>
              </a:rPr>
              <a:t>Azure lets an App Setting be marked "Deployment slot setting" — that value stays attached to its slot and is not swapped along with the code.</a:t>
            </a:r>
            <a:endParaRPr lang="en-US" sz="1300" dirty="0"/>
          </a:p>
        </p:txBody>
      </p:sp>
      <p:sp>
        <p:nvSpPr>
          <p:cNvPr id="6" name="Shape 4"/>
          <p:cNvSpPr/>
          <p:nvPr/>
        </p:nvSpPr>
        <p:spPr>
          <a:xfrm>
            <a:off x="548640" y="2286000"/>
            <a:ext cx="5394960" cy="2286000"/>
          </a:xfrm>
          <a:prstGeom prst="roundRect">
            <a:avLst>
              <a:gd name="adj" fmla="val 4000"/>
            </a:avLst>
          </a:prstGeom>
          <a:solidFill>
            <a:srgbClr val="FFFFFF"/>
          </a:solidFill>
          <a:ln w="19050">
            <a:solidFill>
              <a:srgbClr val="065A82"/>
            </a:solidFill>
            <a:prstDash val="solid"/>
          </a:ln>
        </p:spPr>
      </p:sp>
      <p:sp>
        <p:nvSpPr>
          <p:cNvPr id="7" name="Shape 5"/>
          <p:cNvSpPr/>
          <p:nvPr/>
        </p:nvSpPr>
        <p:spPr>
          <a:xfrm>
            <a:off x="868680" y="2560320"/>
            <a:ext cx="2194560" cy="384048"/>
          </a:xfrm>
          <a:prstGeom prst="roundRect">
            <a:avLst>
              <a:gd name="adj" fmla="val 50000"/>
            </a:avLst>
          </a:prstGeom>
          <a:solidFill>
            <a:srgbClr val="065A82"/>
          </a:solidFill>
          <a:ln/>
        </p:spPr>
      </p:sp>
      <p:sp>
        <p:nvSpPr>
          <p:cNvPr id="8" name="Text 6"/>
          <p:cNvSpPr txBox="1"/>
          <p:nvPr/>
        </p:nvSpPr>
        <p:spPr>
          <a:xfrm>
            <a:off x="868680" y="2560320"/>
            <a:ext cx="21945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p:txBody>
      </p:sp>
      <p:sp>
        <p:nvSpPr>
          <p:cNvPr id="9" name="Shape 7"/>
          <p:cNvSpPr/>
          <p:nvPr/>
        </p:nvSpPr>
        <p:spPr>
          <a:xfrm>
            <a:off x="868680" y="3200400"/>
            <a:ext cx="4754880" cy="1005840"/>
          </a:xfrm>
          <a:prstGeom prst="roundRect">
            <a:avLst>
              <a:gd name="adj" fmla="val 5455"/>
            </a:avLst>
          </a:prstGeom>
          <a:solidFill>
            <a:srgbClr val="F3F7FA"/>
          </a:solidFill>
          <a:ln w="12700">
            <a:solidFill>
              <a:srgbClr val="DCE6EC"/>
            </a:solidFill>
            <a:prstDash val="solid"/>
          </a:ln>
        </p:spPr>
      </p:sp>
      <p:sp>
        <p:nvSpPr>
          <p:cNvPr id="10" name="Text 8"/>
          <p:cNvSpPr txBox="1"/>
          <p:nvPr/>
        </p:nvSpPr>
        <p:spPr>
          <a:xfrm>
            <a:off x="1005840" y="3291840"/>
            <a:ext cx="4480560" cy="365760"/>
          </a:xfrm>
          <a:prstGeom prst="rect">
            <a:avLst/>
          </a:prstGeom>
          <a:noFill/>
          <a:ln/>
        </p:spPr>
        <p:txBody>
          <a:bodyPr wrap="square" lIns="0" tIns="0" rIns="0" bIns="0" rtlCol="0" anchor="ctr"/>
          <a:lstStyle/>
          <a:p>
            <a:pPr marL="0" indent="0">
              <a:buNone/>
            </a:pPr>
            <a:r>
              <a:rPr lang="en-US" sz="1200" dirty="0">
                <a:solidFill>
                  <a:srgbClr val="5B6B77"/>
                </a:solidFill>
                <a:latin typeface="Courier New" pitchFamily="34" charset="0"/>
                <a:ea typeface="Courier New" pitchFamily="34" charset="-122"/>
                <a:cs typeface="Courier New" pitchFamily="34" charset="-120"/>
              </a:rPr>
              <a:t>DEPLOYMENT_SLOT</a:t>
            </a:r>
            <a:endParaRPr lang="en-US" sz="1200" dirty="0"/>
          </a:p>
        </p:txBody>
      </p:sp>
      <p:sp>
        <p:nvSpPr>
          <p:cNvPr id="11" name="Text 9"/>
          <p:cNvSpPr txBox="1"/>
          <p:nvPr/>
        </p:nvSpPr>
        <p:spPr>
          <a:xfrm>
            <a:off x="1005840" y="3657600"/>
            <a:ext cx="4480560" cy="411480"/>
          </a:xfrm>
          <a:prstGeom prst="rect">
            <a:avLst/>
          </a:prstGeom>
          <a:noFill/>
          <a:ln/>
        </p:spPr>
        <p:txBody>
          <a:bodyPr wrap="square" lIns="0" tIns="0" rIns="0" bIns="0" rtlCol="0" anchor="ctr"/>
          <a:lstStyle/>
          <a:p>
            <a:pPr marL="0" indent="0">
              <a:buNone/>
            </a:pPr>
            <a:r>
              <a:rPr lang="en-US" sz="1600" b="1" dirty="0">
                <a:solidFill>
                  <a:srgbClr val="065A82"/>
                </a:solidFill>
                <a:latin typeface="Courier New" pitchFamily="34" charset="0"/>
                <a:ea typeface="Courier New" pitchFamily="34" charset="-122"/>
                <a:cs typeface="Courier New" pitchFamily="34" charset="-120"/>
              </a:rPr>
              <a:t>= production</a:t>
            </a:r>
            <a:endParaRPr lang="en-US" sz="1600" dirty="0"/>
          </a:p>
        </p:txBody>
      </p:sp>
      <p:sp>
        <p:nvSpPr>
          <p:cNvPr id="12" name="Shape 10"/>
          <p:cNvSpPr/>
          <p:nvPr/>
        </p:nvSpPr>
        <p:spPr>
          <a:xfrm>
            <a:off x="6217920" y="2286000"/>
            <a:ext cx="5394960" cy="2286000"/>
          </a:xfrm>
          <a:prstGeom prst="roundRect">
            <a:avLst>
              <a:gd name="adj" fmla="val 4000"/>
            </a:avLst>
          </a:prstGeom>
          <a:solidFill>
            <a:srgbClr val="FFFFFF"/>
          </a:solidFill>
          <a:ln w="19050">
            <a:solidFill>
              <a:srgbClr val="1C7293"/>
            </a:solidFill>
            <a:prstDash val="solid"/>
          </a:ln>
        </p:spPr>
      </p:sp>
      <p:sp>
        <p:nvSpPr>
          <p:cNvPr id="13" name="Shape 11"/>
          <p:cNvSpPr/>
          <p:nvPr/>
        </p:nvSpPr>
        <p:spPr>
          <a:xfrm>
            <a:off x="6537960" y="2560320"/>
            <a:ext cx="2194560" cy="384048"/>
          </a:xfrm>
          <a:prstGeom prst="roundRect">
            <a:avLst>
              <a:gd name="adj" fmla="val 50000"/>
            </a:avLst>
          </a:prstGeom>
          <a:solidFill>
            <a:srgbClr val="1C7293"/>
          </a:solidFill>
          <a:ln/>
        </p:spPr>
      </p:sp>
      <p:sp>
        <p:nvSpPr>
          <p:cNvPr id="14" name="Text 12"/>
          <p:cNvSpPr txBox="1"/>
          <p:nvPr/>
        </p:nvSpPr>
        <p:spPr>
          <a:xfrm>
            <a:off x="6537960" y="2560320"/>
            <a:ext cx="21945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STAGING</a:t>
            </a:r>
            <a:endParaRPr lang="en-US" sz="1200" dirty="0"/>
          </a:p>
        </p:txBody>
      </p:sp>
      <p:sp>
        <p:nvSpPr>
          <p:cNvPr id="15" name="Shape 13"/>
          <p:cNvSpPr/>
          <p:nvPr/>
        </p:nvSpPr>
        <p:spPr>
          <a:xfrm>
            <a:off x="6537960" y="3200400"/>
            <a:ext cx="4754880" cy="1005840"/>
          </a:xfrm>
          <a:prstGeom prst="roundRect">
            <a:avLst>
              <a:gd name="adj" fmla="val 5455"/>
            </a:avLst>
          </a:prstGeom>
          <a:solidFill>
            <a:srgbClr val="F3F7FA"/>
          </a:solidFill>
          <a:ln w="12700">
            <a:solidFill>
              <a:srgbClr val="DCE6EC"/>
            </a:solidFill>
            <a:prstDash val="solid"/>
          </a:ln>
        </p:spPr>
      </p:sp>
      <p:sp>
        <p:nvSpPr>
          <p:cNvPr id="16" name="Text 14"/>
          <p:cNvSpPr txBox="1"/>
          <p:nvPr/>
        </p:nvSpPr>
        <p:spPr>
          <a:xfrm>
            <a:off x="6675120" y="3291840"/>
            <a:ext cx="4480560" cy="365760"/>
          </a:xfrm>
          <a:prstGeom prst="rect">
            <a:avLst/>
          </a:prstGeom>
          <a:noFill/>
          <a:ln/>
        </p:spPr>
        <p:txBody>
          <a:bodyPr wrap="square" lIns="0" tIns="0" rIns="0" bIns="0" rtlCol="0" anchor="ctr"/>
          <a:lstStyle/>
          <a:p>
            <a:pPr marL="0" indent="0">
              <a:buNone/>
            </a:pPr>
            <a:r>
              <a:rPr lang="en-US" sz="1200" dirty="0">
                <a:solidFill>
                  <a:srgbClr val="5B6B77"/>
                </a:solidFill>
                <a:latin typeface="Courier New" pitchFamily="34" charset="0"/>
                <a:ea typeface="Courier New" pitchFamily="34" charset="-122"/>
                <a:cs typeface="Courier New" pitchFamily="34" charset="-120"/>
              </a:rPr>
              <a:t>DEPLOYMENT_SLOT</a:t>
            </a:r>
            <a:endParaRPr lang="en-US" sz="1200" dirty="0"/>
          </a:p>
        </p:txBody>
      </p:sp>
      <p:sp>
        <p:nvSpPr>
          <p:cNvPr id="17" name="Text 15"/>
          <p:cNvSpPr txBox="1"/>
          <p:nvPr/>
        </p:nvSpPr>
        <p:spPr>
          <a:xfrm>
            <a:off x="6675120" y="3657600"/>
            <a:ext cx="4480560" cy="411480"/>
          </a:xfrm>
          <a:prstGeom prst="rect">
            <a:avLst/>
          </a:prstGeom>
          <a:noFill/>
          <a:ln/>
        </p:spPr>
        <p:txBody>
          <a:bodyPr wrap="square" lIns="0" tIns="0" rIns="0" bIns="0" rtlCol="0" anchor="ctr"/>
          <a:lstStyle/>
          <a:p>
            <a:pPr marL="0" indent="0">
              <a:buNone/>
            </a:pPr>
            <a:r>
              <a:rPr lang="en-US" sz="1600" b="1" dirty="0">
                <a:solidFill>
                  <a:srgbClr val="1C7293"/>
                </a:solidFill>
                <a:latin typeface="Courier New" pitchFamily="34" charset="0"/>
                <a:ea typeface="Courier New" pitchFamily="34" charset="-122"/>
                <a:cs typeface="Courier New" pitchFamily="34" charset="-120"/>
              </a:rPr>
              <a:t>= staging</a:t>
            </a:r>
            <a:endParaRPr lang="en-US" sz="1600" dirty="0"/>
          </a:p>
        </p:txBody>
      </p:sp>
      <p:sp>
        <p:nvSpPr>
          <p:cNvPr id="18" name="Shape 16"/>
          <p:cNvSpPr/>
          <p:nvPr/>
        </p:nvSpPr>
        <p:spPr>
          <a:xfrm>
            <a:off x="548640" y="4892040"/>
            <a:ext cx="11064240" cy="1097280"/>
          </a:xfrm>
          <a:prstGeom prst="roundRect">
            <a:avLst>
              <a:gd name="adj" fmla="val 6667"/>
            </a:avLst>
          </a:prstGeom>
          <a:solidFill>
            <a:srgbClr val="FCEEE7"/>
          </a:solidFill>
          <a:ln w="12700">
            <a:solidFill>
              <a:srgbClr val="C7511F"/>
            </a:solidFill>
            <a:prstDash val="solid"/>
          </a:ln>
        </p:spPr>
      </p:sp>
      <p:sp>
        <p:nvSpPr>
          <p:cNvPr id="19" name="Text 17"/>
          <p:cNvSpPr txBox="1"/>
          <p:nvPr/>
        </p:nvSpPr>
        <p:spPr>
          <a:xfrm>
            <a:off x="777240" y="4892040"/>
            <a:ext cx="10607040" cy="109728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Why it matters: without this, a swap can silently carry the wrong slot's identity or config into the other environment. Marking DEPLOYMENT_SLOT as a slot setting keeps each environment's identity correct across every swap. (Note: not every Azure setting is slot-specific — only ones explicitly marked as such.)</a:t>
            </a:r>
            <a:endParaRPr lang="en-US" sz="1250" dirty="0"/>
          </a:p>
        </p:txBody>
      </p:sp>
      <p:sp>
        <p:nvSpPr>
          <p:cNvPr id="20" name="Text 18"/>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21" name="Text 19"/>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0" cy="329184"/>
          </a:xfrm>
          <a:prstGeom prst="roundRect">
            <a:avLst>
              <a:gd name="adj" fmla="val 22222"/>
            </a:avLst>
          </a:prstGeom>
          <a:solidFill>
            <a:srgbClr val="065A82"/>
          </a:solidFill>
          <a:ln/>
        </p:spPr>
      </p:sp>
      <p:sp>
        <p:nvSpPr>
          <p:cNvPr id="3" name="Text 1"/>
          <p:cNvSpPr txBox="1"/>
          <p:nvPr/>
        </p:nvSpPr>
        <p:spPr>
          <a:xfrm>
            <a:off x="548640" y="502920"/>
            <a:ext cx="23774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TESTING &amp; RESULTS</a:t>
            </a:r>
            <a:endParaRPr lang="en-US" sz="1100" dirty="0"/>
          </a:p>
        </p:txBody>
      </p:sp>
      <p:sp>
        <p:nvSpPr>
          <p:cNvPr id="4" name="Text 2"/>
          <p:cNvSpPr txBox="1"/>
          <p:nvPr/>
        </p:nvSpPr>
        <p:spPr>
          <a:xfrm>
            <a:off x="548640" y="960120"/>
            <a:ext cx="10515600" cy="457200"/>
          </a:xfrm>
          <a:prstGeom prst="rect">
            <a:avLst/>
          </a:prstGeom>
          <a:noFill/>
          <a:ln/>
        </p:spPr>
        <p:txBody>
          <a:bodyPr wrap="square" lIns="0" tIns="0" rIns="0" bIns="0" rtlCol="0" anchor="ctr"/>
          <a:lstStyle/>
          <a:p>
            <a:pPr marL="0" indent="0">
              <a:buNone/>
            </a:pPr>
            <a:r>
              <a:rPr lang="en-US" sz="2200" b="1" dirty="0">
                <a:solidFill>
                  <a:srgbClr val="1A2733"/>
                </a:solidFill>
                <a:latin typeface="Cambria" pitchFamily="34" charset="0"/>
                <a:ea typeface="Cambria" pitchFamily="34" charset="-122"/>
                <a:cs typeface="Cambria" pitchFamily="34" charset="-120"/>
              </a:rPr>
              <a:t>Verified outcomes — no estimates, no projections</a:t>
            </a:r>
            <a:endParaRPr lang="en-US" sz="2200" dirty="0"/>
          </a:p>
        </p:txBody>
      </p:sp>
      <p:sp>
        <p:nvSpPr>
          <p:cNvPr id="5" name="Shape 3"/>
          <p:cNvSpPr/>
          <p:nvPr/>
        </p:nvSpPr>
        <p:spPr>
          <a:xfrm>
            <a:off x="548640" y="1691640"/>
            <a:ext cx="5394960" cy="749808"/>
          </a:xfrm>
          <a:prstGeom prst="roundRect">
            <a:avLst>
              <a:gd name="adj" fmla="val 8537"/>
            </a:avLst>
          </a:prstGeom>
          <a:solidFill>
            <a:srgbClr val="FFFFFF"/>
          </a:solidFill>
          <a:ln w="12700">
            <a:solidFill>
              <a:srgbClr val="DCE6EC"/>
            </a:solidFill>
            <a:prstDash val="solid"/>
          </a:ln>
        </p:spPr>
      </p:sp>
      <p:sp>
        <p:nvSpPr>
          <p:cNvPr id="6" name="Shape 4"/>
          <p:cNvSpPr/>
          <p:nvPr/>
        </p:nvSpPr>
        <p:spPr>
          <a:xfrm>
            <a:off x="713232" y="1965960"/>
            <a:ext cx="201168" cy="201168"/>
          </a:xfrm>
          <a:prstGeom prst="ellipse">
            <a:avLst/>
          </a:prstGeom>
          <a:solidFill>
            <a:srgbClr val="0E7A5F"/>
          </a:solidFill>
          <a:ln/>
        </p:spPr>
      </p:sp>
      <p:sp>
        <p:nvSpPr>
          <p:cNvPr id="7" name="Text 5"/>
          <p:cNvSpPr txBox="1"/>
          <p:nvPr/>
        </p:nvSpPr>
        <p:spPr>
          <a:xfrm>
            <a:off x="1051560" y="1764792"/>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Maven Tests</a:t>
            </a:r>
            <a:endParaRPr lang="en-US" sz="1150" dirty="0"/>
          </a:p>
        </p:txBody>
      </p:sp>
      <p:sp>
        <p:nvSpPr>
          <p:cNvPr id="8" name="Text 6"/>
          <p:cNvSpPr txBox="1"/>
          <p:nvPr/>
        </p:nvSpPr>
        <p:spPr>
          <a:xfrm>
            <a:off x="1051560" y="2057400"/>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6 passed, 0 failures</a:t>
            </a:r>
            <a:endParaRPr lang="en-US" sz="1150" dirty="0"/>
          </a:p>
        </p:txBody>
      </p:sp>
      <p:sp>
        <p:nvSpPr>
          <p:cNvPr id="9" name="Shape 7"/>
          <p:cNvSpPr/>
          <p:nvPr/>
        </p:nvSpPr>
        <p:spPr>
          <a:xfrm>
            <a:off x="6217920" y="1691640"/>
            <a:ext cx="5394960" cy="749808"/>
          </a:xfrm>
          <a:prstGeom prst="roundRect">
            <a:avLst>
              <a:gd name="adj" fmla="val 8537"/>
            </a:avLst>
          </a:prstGeom>
          <a:solidFill>
            <a:srgbClr val="FFFFFF"/>
          </a:solidFill>
          <a:ln w="12700">
            <a:solidFill>
              <a:srgbClr val="DCE6EC"/>
            </a:solidFill>
            <a:prstDash val="solid"/>
          </a:ln>
        </p:spPr>
      </p:sp>
      <p:sp>
        <p:nvSpPr>
          <p:cNvPr id="10" name="Shape 8"/>
          <p:cNvSpPr/>
          <p:nvPr/>
        </p:nvSpPr>
        <p:spPr>
          <a:xfrm>
            <a:off x="6382512" y="1965960"/>
            <a:ext cx="201168" cy="201168"/>
          </a:xfrm>
          <a:prstGeom prst="ellipse">
            <a:avLst/>
          </a:prstGeom>
          <a:solidFill>
            <a:srgbClr val="0E7A5F"/>
          </a:solidFill>
          <a:ln/>
        </p:spPr>
      </p:sp>
      <p:sp>
        <p:nvSpPr>
          <p:cNvPr id="11" name="Text 9"/>
          <p:cNvSpPr txBox="1"/>
          <p:nvPr/>
        </p:nvSpPr>
        <p:spPr>
          <a:xfrm>
            <a:off x="6720840" y="1764792"/>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Maven Package</a:t>
            </a:r>
            <a:endParaRPr lang="en-US" sz="1150" dirty="0"/>
          </a:p>
        </p:txBody>
      </p:sp>
      <p:sp>
        <p:nvSpPr>
          <p:cNvPr id="12" name="Text 10"/>
          <p:cNvSpPr txBox="1"/>
          <p:nvPr/>
        </p:nvSpPr>
        <p:spPr>
          <a:xfrm>
            <a:off x="6720840" y="2057400"/>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Build successful</a:t>
            </a:r>
            <a:endParaRPr lang="en-US" sz="1150" dirty="0"/>
          </a:p>
        </p:txBody>
      </p:sp>
      <p:sp>
        <p:nvSpPr>
          <p:cNvPr id="13" name="Shape 11"/>
          <p:cNvSpPr/>
          <p:nvPr/>
        </p:nvSpPr>
        <p:spPr>
          <a:xfrm>
            <a:off x="548640" y="2551176"/>
            <a:ext cx="5394960" cy="749808"/>
          </a:xfrm>
          <a:prstGeom prst="roundRect">
            <a:avLst>
              <a:gd name="adj" fmla="val 8537"/>
            </a:avLst>
          </a:prstGeom>
          <a:solidFill>
            <a:srgbClr val="FFFFFF"/>
          </a:solidFill>
          <a:ln w="12700">
            <a:solidFill>
              <a:srgbClr val="DCE6EC"/>
            </a:solidFill>
            <a:prstDash val="solid"/>
          </a:ln>
        </p:spPr>
      </p:sp>
      <p:sp>
        <p:nvSpPr>
          <p:cNvPr id="14" name="Shape 12"/>
          <p:cNvSpPr/>
          <p:nvPr/>
        </p:nvSpPr>
        <p:spPr>
          <a:xfrm>
            <a:off x="713232" y="2825496"/>
            <a:ext cx="201168" cy="201168"/>
          </a:xfrm>
          <a:prstGeom prst="ellipse">
            <a:avLst/>
          </a:prstGeom>
          <a:solidFill>
            <a:srgbClr val="0E7A5F"/>
          </a:solidFill>
          <a:ln/>
        </p:spPr>
      </p:sp>
      <p:sp>
        <p:nvSpPr>
          <p:cNvPr id="15" name="Text 13"/>
          <p:cNvSpPr txBox="1"/>
          <p:nvPr/>
        </p:nvSpPr>
        <p:spPr>
          <a:xfrm>
            <a:off x="1051560" y="2624328"/>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Production Endpoint</a:t>
            </a:r>
            <a:endParaRPr lang="en-US" sz="1150" dirty="0"/>
          </a:p>
        </p:txBody>
      </p:sp>
      <p:sp>
        <p:nvSpPr>
          <p:cNvPr id="16" name="Text 14"/>
          <p:cNvSpPr txBox="1"/>
          <p:nvPr/>
        </p:nvSpPr>
        <p:spPr>
          <a:xfrm>
            <a:off x="1051560" y="2916936"/>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HTTP 200</a:t>
            </a:r>
            <a:endParaRPr lang="en-US" sz="1150" dirty="0"/>
          </a:p>
        </p:txBody>
      </p:sp>
      <p:sp>
        <p:nvSpPr>
          <p:cNvPr id="17" name="Shape 15"/>
          <p:cNvSpPr/>
          <p:nvPr/>
        </p:nvSpPr>
        <p:spPr>
          <a:xfrm>
            <a:off x="6217920" y="2551176"/>
            <a:ext cx="5394960" cy="749808"/>
          </a:xfrm>
          <a:prstGeom prst="roundRect">
            <a:avLst>
              <a:gd name="adj" fmla="val 8537"/>
            </a:avLst>
          </a:prstGeom>
          <a:solidFill>
            <a:srgbClr val="FFFFFF"/>
          </a:solidFill>
          <a:ln w="12700">
            <a:solidFill>
              <a:srgbClr val="DCE6EC"/>
            </a:solidFill>
            <a:prstDash val="solid"/>
          </a:ln>
        </p:spPr>
      </p:sp>
      <p:sp>
        <p:nvSpPr>
          <p:cNvPr id="18" name="Shape 16"/>
          <p:cNvSpPr/>
          <p:nvPr/>
        </p:nvSpPr>
        <p:spPr>
          <a:xfrm>
            <a:off x="6382512" y="2825496"/>
            <a:ext cx="201168" cy="201168"/>
          </a:xfrm>
          <a:prstGeom prst="ellipse">
            <a:avLst/>
          </a:prstGeom>
          <a:solidFill>
            <a:srgbClr val="0E7A5F"/>
          </a:solidFill>
          <a:ln/>
        </p:spPr>
      </p:sp>
      <p:sp>
        <p:nvSpPr>
          <p:cNvPr id="19" name="Text 17"/>
          <p:cNvSpPr txBox="1"/>
          <p:nvPr/>
        </p:nvSpPr>
        <p:spPr>
          <a:xfrm>
            <a:off x="6720840" y="2624328"/>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Staging Endpoint</a:t>
            </a:r>
            <a:endParaRPr lang="en-US" sz="1150" dirty="0"/>
          </a:p>
        </p:txBody>
      </p:sp>
      <p:sp>
        <p:nvSpPr>
          <p:cNvPr id="20" name="Text 18"/>
          <p:cNvSpPr txBox="1"/>
          <p:nvPr/>
        </p:nvSpPr>
        <p:spPr>
          <a:xfrm>
            <a:off x="6720840" y="2916936"/>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HTTP 200</a:t>
            </a:r>
            <a:endParaRPr lang="en-US" sz="1150" dirty="0"/>
          </a:p>
        </p:txBody>
      </p:sp>
      <p:sp>
        <p:nvSpPr>
          <p:cNvPr id="21" name="Shape 19"/>
          <p:cNvSpPr/>
          <p:nvPr/>
        </p:nvSpPr>
        <p:spPr>
          <a:xfrm>
            <a:off x="548640" y="3410712"/>
            <a:ext cx="5394960" cy="749808"/>
          </a:xfrm>
          <a:prstGeom prst="roundRect">
            <a:avLst>
              <a:gd name="adj" fmla="val 8537"/>
            </a:avLst>
          </a:prstGeom>
          <a:solidFill>
            <a:srgbClr val="FFFFFF"/>
          </a:solidFill>
          <a:ln w="12700">
            <a:solidFill>
              <a:srgbClr val="DCE6EC"/>
            </a:solidFill>
            <a:prstDash val="solid"/>
          </a:ln>
        </p:spPr>
      </p:sp>
      <p:sp>
        <p:nvSpPr>
          <p:cNvPr id="22" name="Shape 20"/>
          <p:cNvSpPr/>
          <p:nvPr/>
        </p:nvSpPr>
        <p:spPr>
          <a:xfrm>
            <a:off x="713232" y="3685032"/>
            <a:ext cx="201168" cy="201168"/>
          </a:xfrm>
          <a:prstGeom prst="ellipse">
            <a:avLst/>
          </a:prstGeom>
          <a:solidFill>
            <a:srgbClr val="0E7A5F"/>
          </a:solidFill>
          <a:ln/>
        </p:spPr>
      </p:sp>
      <p:sp>
        <p:nvSpPr>
          <p:cNvPr id="23" name="Text 21"/>
          <p:cNvSpPr txBox="1"/>
          <p:nvPr/>
        </p:nvSpPr>
        <p:spPr>
          <a:xfrm>
            <a:off x="1051560" y="3483864"/>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Application Status</a:t>
            </a:r>
            <a:endParaRPr lang="en-US" sz="1150" dirty="0"/>
          </a:p>
        </p:txBody>
      </p:sp>
      <p:sp>
        <p:nvSpPr>
          <p:cNvPr id="24" name="Text 22"/>
          <p:cNvSpPr txBox="1"/>
          <p:nvPr/>
        </p:nvSpPr>
        <p:spPr>
          <a:xfrm>
            <a:off x="1051560" y="3776472"/>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status = UP</a:t>
            </a:r>
            <a:endParaRPr lang="en-US" sz="1150" dirty="0"/>
          </a:p>
        </p:txBody>
      </p:sp>
      <p:sp>
        <p:nvSpPr>
          <p:cNvPr id="25" name="Shape 23"/>
          <p:cNvSpPr/>
          <p:nvPr/>
        </p:nvSpPr>
        <p:spPr>
          <a:xfrm>
            <a:off x="6217920" y="3410712"/>
            <a:ext cx="5394960" cy="749808"/>
          </a:xfrm>
          <a:prstGeom prst="roundRect">
            <a:avLst>
              <a:gd name="adj" fmla="val 8537"/>
            </a:avLst>
          </a:prstGeom>
          <a:solidFill>
            <a:srgbClr val="FFFFFF"/>
          </a:solidFill>
          <a:ln w="12700">
            <a:solidFill>
              <a:srgbClr val="DCE6EC"/>
            </a:solidFill>
            <a:prstDash val="solid"/>
          </a:ln>
        </p:spPr>
      </p:sp>
      <p:sp>
        <p:nvSpPr>
          <p:cNvPr id="26" name="Shape 24"/>
          <p:cNvSpPr/>
          <p:nvPr/>
        </p:nvSpPr>
        <p:spPr>
          <a:xfrm>
            <a:off x="6382512" y="3685032"/>
            <a:ext cx="201168" cy="201168"/>
          </a:xfrm>
          <a:prstGeom prst="ellipse">
            <a:avLst/>
          </a:prstGeom>
          <a:solidFill>
            <a:srgbClr val="0E7A5F"/>
          </a:solidFill>
          <a:ln/>
        </p:spPr>
      </p:sp>
      <p:sp>
        <p:nvSpPr>
          <p:cNvPr id="27" name="Text 25"/>
          <p:cNvSpPr txBox="1"/>
          <p:nvPr/>
        </p:nvSpPr>
        <p:spPr>
          <a:xfrm>
            <a:off x="6720840" y="3483864"/>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Warm-up Status</a:t>
            </a:r>
            <a:endParaRPr lang="en-US" sz="1150" dirty="0"/>
          </a:p>
        </p:txBody>
      </p:sp>
      <p:sp>
        <p:nvSpPr>
          <p:cNvPr id="28" name="Text 26"/>
          <p:cNvSpPr txBox="1"/>
          <p:nvPr/>
        </p:nvSpPr>
        <p:spPr>
          <a:xfrm>
            <a:off x="6720840" y="3776472"/>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warmupStatus = READY</a:t>
            </a:r>
            <a:endParaRPr lang="en-US" sz="1150" dirty="0"/>
          </a:p>
        </p:txBody>
      </p:sp>
      <p:sp>
        <p:nvSpPr>
          <p:cNvPr id="29" name="Shape 27"/>
          <p:cNvSpPr/>
          <p:nvPr/>
        </p:nvSpPr>
        <p:spPr>
          <a:xfrm>
            <a:off x="548640" y="4270248"/>
            <a:ext cx="5394960" cy="749808"/>
          </a:xfrm>
          <a:prstGeom prst="roundRect">
            <a:avLst>
              <a:gd name="adj" fmla="val 8537"/>
            </a:avLst>
          </a:prstGeom>
          <a:solidFill>
            <a:srgbClr val="FFFFFF"/>
          </a:solidFill>
          <a:ln w="12700">
            <a:solidFill>
              <a:srgbClr val="DCE6EC"/>
            </a:solidFill>
            <a:prstDash val="solid"/>
          </a:ln>
        </p:spPr>
      </p:sp>
      <p:sp>
        <p:nvSpPr>
          <p:cNvPr id="30" name="Shape 28"/>
          <p:cNvSpPr/>
          <p:nvPr/>
        </p:nvSpPr>
        <p:spPr>
          <a:xfrm>
            <a:off x="713232" y="4544568"/>
            <a:ext cx="201168" cy="201168"/>
          </a:xfrm>
          <a:prstGeom prst="ellipse">
            <a:avLst/>
          </a:prstGeom>
          <a:solidFill>
            <a:srgbClr val="0E7A5F"/>
          </a:solidFill>
          <a:ln/>
        </p:spPr>
      </p:sp>
      <p:sp>
        <p:nvSpPr>
          <p:cNvPr id="31" name="Text 29"/>
          <p:cNvSpPr txBox="1"/>
          <p:nvPr/>
        </p:nvSpPr>
        <p:spPr>
          <a:xfrm>
            <a:off x="1051560" y="4343400"/>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Swap Validation</a:t>
            </a:r>
            <a:endParaRPr lang="en-US" sz="1150" dirty="0"/>
          </a:p>
        </p:txBody>
      </p:sp>
      <p:sp>
        <p:nvSpPr>
          <p:cNvPr id="32" name="Text 30"/>
          <p:cNvSpPr txBox="1"/>
          <p:nvPr/>
        </p:nvSpPr>
        <p:spPr>
          <a:xfrm>
            <a:off x="1051560" y="4636008"/>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swapValidation = PASSED</a:t>
            </a:r>
            <a:endParaRPr lang="en-US" sz="1150" dirty="0"/>
          </a:p>
        </p:txBody>
      </p:sp>
      <p:sp>
        <p:nvSpPr>
          <p:cNvPr id="33" name="Shape 31"/>
          <p:cNvSpPr/>
          <p:nvPr/>
        </p:nvSpPr>
        <p:spPr>
          <a:xfrm>
            <a:off x="6217920" y="4270248"/>
            <a:ext cx="5394960" cy="749808"/>
          </a:xfrm>
          <a:prstGeom prst="roundRect">
            <a:avLst>
              <a:gd name="adj" fmla="val 8537"/>
            </a:avLst>
          </a:prstGeom>
          <a:solidFill>
            <a:srgbClr val="FFFFFF"/>
          </a:solidFill>
          <a:ln w="12700">
            <a:solidFill>
              <a:srgbClr val="DCE6EC"/>
            </a:solidFill>
            <a:prstDash val="solid"/>
          </a:ln>
        </p:spPr>
      </p:sp>
      <p:sp>
        <p:nvSpPr>
          <p:cNvPr id="34" name="Shape 32"/>
          <p:cNvSpPr/>
          <p:nvPr/>
        </p:nvSpPr>
        <p:spPr>
          <a:xfrm>
            <a:off x="6382512" y="4544568"/>
            <a:ext cx="201168" cy="201168"/>
          </a:xfrm>
          <a:prstGeom prst="ellipse">
            <a:avLst/>
          </a:prstGeom>
          <a:solidFill>
            <a:srgbClr val="0E7A5F"/>
          </a:solidFill>
          <a:ln/>
        </p:spPr>
      </p:sp>
      <p:sp>
        <p:nvSpPr>
          <p:cNvPr id="35" name="Text 33"/>
          <p:cNvSpPr txBox="1"/>
          <p:nvPr/>
        </p:nvSpPr>
        <p:spPr>
          <a:xfrm>
            <a:off x="6720840" y="4343400"/>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Slot Swap</a:t>
            </a:r>
            <a:endParaRPr lang="en-US" sz="1150" dirty="0"/>
          </a:p>
        </p:txBody>
      </p:sp>
      <p:sp>
        <p:nvSpPr>
          <p:cNvPr id="36" name="Text 34"/>
          <p:cNvSpPr txBox="1"/>
          <p:nvPr/>
        </p:nvSpPr>
        <p:spPr>
          <a:xfrm>
            <a:off x="6720840" y="4636008"/>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Tested successfully</a:t>
            </a:r>
            <a:endParaRPr lang="en-US" sz="1150" dirty="0"/>
          </a:p>
        </p:txBody>
      </p:sp>
      <p:sp>
        <p:nvSpPr>
          <p:cNvPr id="37" name="Shape 35"/>
          <p:cNvSpPr/>
          <p:nvPr/>
        </p:nvSpPr>
        <p:spPr>
          <a:xfrm>
            <a:off x="548640" y="5129784"/>
            <a:ext cx="5394960" cy="749808"/>
          </a:xfrm>
          <a:prstGeom prst="roundRect">
            <a:avLst>
              <a:gd name="adj" fmla="val 8537"/>
            </a:avLst>
          </a:prstGeom>
          <a:solidFill>
            <a:srgbClr val="FFFFFF"/>
          </a:solidFill>
          <a:ln w="12700">
            <a:solidFill>
              <a:srgbClr val="DCE6EC"/>
            </a:solidFill>
            <a:prstDash val="solid"/>
          </a:ln>
        </p:spPr>
      </p:sp>
      <p:sp>
        <p:nvSpPr>
          <p:cNvPr id="38" name="Shape 36"/>
          <p:cNvSpPr/>
          <p:nvPr/>
        </p:nvSpPr>
        <p:spPr>
          <a:xfrm>
            <a:off x="713232" y="5404104"/>
            <a:ext cx="201168" cy="201168"/>
          </a:xfrm>
          <a:prstGeom prst="ellipse">
            <a:avLst/>
          </a:prstGeom>
          <a:solidFill>
            <a:srgbClr val="0E7A5F"/>
          </a:solidFill>
          <a:ln/>
        </p:spPr>
      </p:sp>
      <p:sp>
        <p:nvSpPr>
          <p:cNvPr id="39" name="Text 37"/>
          <p:cNvSpPr txBox="1"/>
          <p:nvPr/>
        </p:nvSpPr>
        <p:spPr>
          <a:xfrm>
            <a:off x="1051560" y="5202936"/>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Rollback</a:t>
            </a:r>
            <a:endParaRPr lang="en-US" sz="1150" dirty="0"/>
          </a:p>
        </p:txBody>
      </p:sp>
      <p:sp>
        <p:nvSpPr>
          <p:cNvPr id="40" name="Text 38"/>
          <p:cNvSpPr txBox="1"/>
          <p:nvPr/>
        </p:nvSpPr>
        <p:spPr>
          <a:xfrm>
            <a:off x="1051560" y="5495544"/>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Tested successfully</a:t>
            </a:r>
            <a:endParaRPr lang="en-US" sz="1150" dirty="0"/>
          </a:p>
        </p:txBody>
      </p:sp>
      <p:sp>
        <p:nvSpPr>
          <p:cNvPr id="41" name="Shape 39"/>
          <p:cNvSpPr/>
          <p:nvPr/>
        </p:nvSpPr>
        <p:spPr>
          <a:xfrm>
            <a:off x="6217920" y="5129784"/>
            <a:ext cx="5394960" cy="749808"/>
          </a:xfrm>
          <a:prstGeom prst="roundRect">
            <a:avLst>
              <a:gd name="adj" fmla="val 8537"/>
            </a:avLst>
          </a:prstGeom>
          <a:solidFill>
            <a:srgbClr val="FFFFFF"/>
          </a:solidFill>
          <a:ln w="12700">
            <a:solidFill>
              <a:srgbClr val="DCE6EC"/>
            </a:solidFill>
            <a:prstDash val="solid"/>
          </a:ln>
        </p:spPr>
      </p:sp>
      <p:sp>
        <p:nvSpPr>
          <p:cNvPr id="42" name="Shape 40"/>
          <p:cNvSpPr/>
          <p:nvPr/>
        </p:nvSpPr>
        <p:spPr>
          <a:xfrm>
            <a:off x="6382512" y="5404104"/>
            <a:ext cx="201168" cy="201168"/>
          </a:xfrm>
          <a:prstGeom prst="ellipse">
            <a:avLst/>
          </a:prstGeom>
          <a:solidFill>
            <a:srgbClr val="0E7A5F"/>
          </a:solidFill>
          <a:ln/>
        </p:spPr>
      </p:sp>
      <p:sp>
        <p:nvSpPr>
          <p:cNvPr id="43" name="Text 41"/>
          <p:cNvSpPr txBox="1"/>
          <p:nvPr/>
        </p:nvSpPr>
        <p:spPr>
          <a:xfrm>
            <a:off x="6720840" y="5202936"/>
            <a:ext cx="4754880" cy="292608"/>
          </a:xfrm>
          <a:prstGeom prst="rect">
            <a:avLst/>
          </a:prstGeom>
          <a:noFill/>
          <a:ln/>
        </p:spPr>
        <p:txBody>
          <a:bodyPr wrap="square" lIns="0" tIns="0" rIns="0" bIns="0" rtlCol="0" anchor="ctr"/>
          <a:lstStyle/>
          <a:p>
            <a:pPr marL="0" indent="0">
              <a:buNone/>
            </a:pPr>
            <a:r>
              <a:rPr lang="en-US" sz="1150" b="1" dirty="0">
                <a:solidFill>
                  <a:srgbClr val="1A2733"/>
                </a:solidFill>
                <a:latin typeface="Calibri" pitchFamily="34" charset="0"/>
                <a:ea typeface="Calibri" pitchFamily="34" charset="-122"/>
                <a:cs typeface="Calibri" pitchFamily="34" charset="-120"/>
              </a:rPr>
              <a:t>GitHub Sync</a:t>
            </a:r>
            <a:endParaRPr lang="en-US" sz="1150" dirty="0"/>
          </a:p>
        </p:txBody>
      </p:sp>
      <p:sp>
        <p:nvSpPr>
          <p:cNvPr id="44" name="Text 42"/>
          <p:cNvSpPr txBox="1"/>
          <p:nvPr/>
        </p:nvSpPr>
        <p:spPr>
          <a:xfrm>
            <a:off x="6720840" y="5495544"/>
            <a:ext cx="4754880" cy="292608"/>
          </a:xfrm>
          <a:prstGeom prst="rect">
            <a:avLst/>
          </a:prstGeom>
          <a:noFill/>
          <a:ln/>
        </p:spPr>
        <p:txBody>
          <a:bodyPr wrap="square" lIns="0" tIns="0" rIns="0" bIns="0" rtlCol="0" anchor="ctr"/>
          <a:lstStyle/>
          <a:p>
            <a:pPr marL="0" indent="0">
              <a:buNone/>
            </a:pPr>
            <a:r>
              <a:rPr lang="en-US" sz="1150" dirty="0">
                <a:solidFill>
                  <a:srgbClr val="0E7A5F"/>
                </a:solidFill>
                <a:latin typeface="Courier New" pitchFamily="34" charset="0"/>
                <a:ea typeface="Courier New" pitchFamily="34" charset="-122"/>
                <a:cs typeface="Courier New" pitchFamily="34" charset="-120"/>
              </a:rPr>
              <a:t>Repository synchronized</a:t>
            </a:r>
            <a:endParaRPr lang="en-US" sz="1150" dirty="0"/>
          </a:p>
        </p:txBody>
      </p:sp>
      <p:sp>
        <p:nvSpPr>
          <p:cNvPr id="45" name="Text 43"/>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24CC3046-P041  |  Application Hosting  |  Student Release Hub</a:t>
            </a:r>
            <a:endParaRPr lang="en-US" sz="900" dirty="0"/>
          </a:p>
        </p:txBody>
      </p:sp>
      <p:sp>
        <p:nvSpPr>
          <p:cNvPr id="46" name="Text 44"/>
          <p:cNvSpPr txBox="1"/>
          <p:nvPr/>
        </p:nvSpPr>
        <p:spPr>
          <a:xfrm>
            <a:off x="11365992" y="6510528"/>
            <a:ext cx="457200" cy="274320"/>
          </a:xfrm>
          <a:prstGeom prst="rect">
            <a:avLst/>
          </a:prstGeom>
          <a:noFill/>
          <a:ln/>
        </p:spPr>
        <p:txBody>
          <a:bodyPr wrap="square" lIns="0" tIns="0" rIns="0" bIns="0" rtlCol="0" anchor="ctr"/>
          <a:lstStyle/>
          <a:p>
            <a:pPr marL="0" indent="0" algn="r">
              <a:buNone/>
            </a:pPr>
            <a:r>
              <a:rPr lang="en-US" sz="900" dirty="0">
                <a:solidFill>
                  <a:srgbClr val="5B6B7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A3D"/>
        </a:solidFill>
        <a:effectLst/>
      </p:bgPr>
    </p:bg>
    <p:spTree>
      <p:nvGrpSpPr>
        <p:cNvPr id="1" name=""/>
        <p:cNvGrpSpPr/>
        <p:nvPr/>
      </p:nvGrpSpPr>
      <p:grpSpPr>
        <a:xfrm>
          <a:off x="0" y="0"/>
          <a:ext cx="0" cy="0"/>
          <a:chOff x="0" y="0"/>
          <a:chExt cx="0" cy="0"/>
        </a:xfrm>
      </p:grpSpPr>
      <p:sp>
        <p:nvSpPr>
          <p:cNvPr id="2" name="Shape 0"/>
          <p:cNvSpPr/>
          <p:nvPr/>
        </p:nvSpPr>
        <p:spPr>
          <a:xfrm>
            <a:off x="-1371600" y="4389120"/>
            <a:ext cx="4572000" cy="4572000"/>
          </a:xfrm>
          <a:prstGeom prst="ellipse">
            <a:avLst/>
          </a:prstGeom>
          <a:solidFill>
            <a:srgbClr val="065A82">
              <a:alpha val="45000"/>
            </a:srgbClr>
          </a:solidFill>
          <a:ln/>
        </p:spPr>
      </p:sp>
      <p:sp>
        <p:nvSpPr>
          <p:cNvPr id="3" name="Text 1"/>
          <p:cNvSpPr txBox="1"/>
          <p:nvPr/>
        </p:nvSpPr>
        <p:spPr>
          <a:xfrm>
            <a:off x="640080" y="548640"/>
            <a:ext cx="5486400" cy="365760"/>
          </a:xfrm>
          <a:prstGeom prst="rect">
            <a:avLst/>
          </a:prstGeom>
          <a:noFill/>
          <a:ln/>
        </p:spPr>
        <p:txBody>
          <a:bodyPr wrap="square" lIns="0" tIns="0" rIns="0" bIns="0" rtlCol="0" anchor="ctr"/>
          <a:lstStyle/>
          <a:p>
            <a:pPr marL="0" indent="0">
              <a:buNone/>
            </a:pPr>
            <a:r>
              <a:rPr lang="en-US" sz="1300" b="1" kern="0" spc="200" dirty="0">
                <a:solidFill>
                  <a:srgbClr val="21C3A4"/>
                </a:solidFill>
                <a:latin typeface="Calibri" pitchFamily="34" charset="0"/>
                <a:ea typeface="Calibri" pitchFamily="34" charset="-122"/>
                <a:cs typeface="Calibri" pitchFamily="34" charset="-120"/>
              </a:rPr>
              <a:t>CONCLUSION</a:t>
            </a:r>
            <a:endParaRPr lang="en-US" sz="1300" dirty="0"/>
          </a:p>
        </p:txBody>
      </p:sp>
      <p:sp>
        <p:nvSpPr>
          <p:cNvPr id="4" name="Text 2"/>
          <p:cNvSpPr txBox="1"/>
          <p:nvPr/>
        </p:nvSpPr>
        <p:spPr>
          <a:xfrm>
            <a:off x="640080" y="960120"/>
            <a:ext cx="100584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working, validated release architecture</a:t>
            </a:r>
            <a:endParaRPr lang="en-US" sz="2800" dirty="0"/>
          </a:p>
        </p:txBody>
      </p:sp>
      <p:sp>
        <p:nvSpPr>
          <p:cNvPr id="5" name="Shape 3"/>
          <p:cNvSpPr/>
          <p:nvPr/>
        </p:nvSpPr>
        <p:spPr>
          <a:xfrm>
            <a:off x="640080" y="1874520"/>
            <a:ext cx="146304" cy="146304"/>
          </a:xfrm>
          <a:prstGeom prst="ellipse">
            <a:avLst/>
          </a:prstGeom>
          <a:solidFill>
            <a:srgbClr val="21C3A4"/>
          </a:solidFill>
          <a:ln/>
        </p:spPr>
      </p:sp>
      <p:sp>
        <p:nvSpPr>
          <p:cNvPr id="6" name="Text 4"/>
          <p:cNvSpPr txBox="1"/>
          <p:nvPr/>
        </p:nvSpPr>
        <p:spPr>
          <a:xfrm>
            <a:off x="914400" y="1737360"/>
            <a:ext cx="5029200" cy="411480"/>
          </a:xfrm>
          <a:prstGeom prst="rect">
            <a:avLst/>
          </a:prstGeom>
          <a:noFill/>
          <a:ln/>
        </p:spPr>
        <p:txBody>
          <a:bodyPr wrap="square" lIns="0" tIns="0" rIns="0" bIns="0" rtlCol="0" anchor="ctr"/>
          <a:lstStyle/>
          <a:p>
            <a:pPr marL="0" indent="0">
              <a:buNone/>
            </a:pPr>
            <a:r>
              <a:rPr lang="en-US" sz="1300" dirty="0">
                <a:solidFill>
                  <a:srgbClr val="E4EEF4"/>
                </a:solidFill>
                <a:latin typeface="Calibri" pitchFamily="34" charset="0"/>
                <a:ea typeface="Calibri" pitchFamily="34" charset="-122"/>
                <a:cs typeface="Calibri" pitchFamily="34" charset="-120"/>
              </a:rPr>
              <a:t>Controlled application release via staging</a:t>
            </a:r>
            <a:endParaRPr lang="en-US" sz="1300" dirty="0"/>
          </a:p>
        </p:txBody>
      </p:sp>
      <p:sp>
        <p:nvSpPr>
          <p:cNvPr id="7" name="Shape 5"/>
          <p:cNvSpPr/>
          <p:nvPr/>
        </p:nvSpPr>
        <p:spPr>
          <a:xfrm>
            <a:off x="6126480" y="1874520"/>
            <a:ext cx="146304" cy="146304"/>
          </a:xfrm>
          <a:prstGeom prst="ellipse">
            <a:avLst/>
          </a:prstGeom>
          <a:solidFill>
            <a:srgbClr val="21C3A4"/>
          </a:solidFill>
          <a:ln/>
        </p:spPr>
      </p:sp>
      <p:sp>
        <p:nvSpPr>
          <p:cNvPr id="8" name="Text 6"/>
          <p:cNvSpPr txBox="1"/>
          <p:nvPr/>
        </p:nvSpPr>
        <p:spPr>
          <a:xfrm>
            <a:off x="6400800" y="1737360"/>
            <a:ext cx="5029200" cy="411480"/>
          </a:xfrm>
          <a:prstGeom prst="rect">
            <a:avLst/>
          </a:prstGeom>
          <a:noFill/>
          <a:ln/>
        </p:spPr>
        <p:txBody>
          <a:bodyPr wrap="square" lIns="0" tIns="0" rIns="0" bIns="0" rtlCol="0" anchor="ctr"/>
          <a:lstStyle/>
          <a:p>
            <a:pPr marL="0" indent="0">
              <a:buNone/>
            </a:pPr>
            <a:r>
              <a:rPr lang="en-US" sz="1300" dirty="0">
                <a:solidFill>
                  <a:srgbClr val="E4EEF4"/>
                </a:solidFill>
                <a:latin typeface="Calibri" pitchFamily="34" charset="0"/>
                <a:ea typeface="Calibri" pitchFamily="34" charset="-122"/>
                <a:cs typeface="Calibri" pitchFamily="34" charset="-120"/>
              </a:rPr>
              <a:t>Health monitoring through Spring Boot Actuator</a:t>
            </a:r>
            <a:endParaRPr lang="en-US" sz="1300" dirty="0"/>
          </a:p>
        </p:txBody>
      </p:sp>
      <p:sp>
        <p:nvSpPr>
          <p:cNvPr id="9" name="Shape 7"/>
          <p:cNvSpPr/>
          <p:nvPr/>
        </p:nvSpPr>
        <p:spPr>
          <a:xfrm>
            <a:off x="640080" y="2423160"/>
            <a:ext cx="146304" cy="146304"/>
          </a:xfrm>
          <a:prstGeom prst="ellipse">
            <a:avLst/>
          </a:prstGeom>
          <a:solidFill>
            <a:srgbClr val="21C3A4"/>
          </a:solidFill>
          <a:ln/>
        </p:spPr>
      </p:sp>
      <p:sp>
        <p:nvSpPr>
          <p:cNvPr id="10" name="Text 8"/>
          <p:cNvSpPr txBox="1"/>
          <p:nvPr/>
        </p:nvSpPr>
        <p:spPr>
          <a:xfrm>
            <a:off x="914400" y="2286000"/>
            <a:ext cx="5029200" cy="411480"/>
          </a:xfrm>
          <a:prstGeom prst="rect">
            <a:avLst/>
          </a:prstGeom>
          <a:noFill/>
          <a:ln/>
        </p:spPr>
        <p:txBody>
          <a:bodyPr wrap="square" lIns="0" tIns="0" rIns="0" bIns="0" rtlCol="0" anchor="ctr"/>
          <a:lstStyle/>
          <a:p>
            <a:pPr marL="0" indent="0">
              <a:buNone/>
            </a:pPr>
            <a:r>
              <a:rPr lang="en-US" sz="1300" dirty="0">
                <a:solidFill>
                  <a:srgbClr val="E4EEF4"/>
                </a:solidFill>
                <a:latin typeface="Calibri" pitchFamily="34" charset="0"/>
                <a:ea typeface="Calibri" pitchFamily="34" charset="-122"/>
                <a:cs typeface="Calibri" pitchFamily="34" charset="-120"/>
              </a:rPr>
              <a:t>Warm-up configuration before every swap</a:t>
            </a:r>
            <a:endParaRPr lang="en-US" sz="1300" dirty="0"/>
          </a:p>
        </p:txBody>
      </p:sp>
      <p:sp>
        <p:nvSpPr>
          <p:cNvPr id="11" name="Shape 9"/>
          <p:cNvSpPr/>
          <p:nvPr/>
        </p:nvSpPr>
        <p:spPr>
          <a:xfrm>
            <a:off x="6126480" y="2423160"/>
            <a:ext cx="146304" cy="146304"/>
          </a:xfrm>
          <a:prstGeom prst="ellipse">
            <a:avLst/>
          </a:prstGeom>
          <a:solidFill>
            <a:srgbClr val="21C3A4"/>
          </a:solidFill>
          <a:ln/>
        </p:spPr>
      </p:sp>
      <p:sp>
        <p:nvSpPr>
          <p:cNvPr id="12" name="Text 10"/>
          <p:cNvSpPr txBox="1"/>
          <p:nvPr/>
        </p:nvSpPr>
        <p:spPr>
          <a:xfrm>
            <a:off x="6400800" y="2286000"/>
            <a:ext cx="5029200" cy="411480"/>
          </a:xfrm>
          <a:prstGeom prst="rect">
            <a:avLst/>
          </a:prstGeom>
          <a:noFill/>
          <a:ln/>
        </p:spPr>
        <p:txBody>
          <a:bodyPr wrap="square" lIns="0" tIns="0" rIns="0" bIns="0" rtlCol="0" anchor="ctr"/>
          <a:lstStyle/>
          <a:p>
            <a:pPr marL="0" indent="0">
              <a:buNone/>
            </a:pPr>
            <a:r>
              <a:rPr lang="en-US" sz="1300" dirty="0">
                <a:solidFill>
                  <a:srgbClr val="E4EEF4"/>
                </a:solidFill>
                <a:latin typeface="Calibri" pitchFamily="34" charset="0"/>
                <a:ea typeface="Calibri" pitchFamily="34" charset="-122"/>
                <a:cs typeface="Calibri" pitchFamily="34" charset="-120"/>
              </a:rPr>
              <a:t>Slot-specific settings preserved across swaps</a:t>
            </a:r>
            <a:endParaRPr lang="en-US" sz="1300" dirty="0"/>
          </a:p>
        </p:txBody>
      </p:sp>
      <p:sp>
        <p:nvSpPr>
          <p:cNvPr id="13" name="Shape 11"/>
          <p:cNvSpPr/>
          <p:nvPr/>
        </p:nvSpPr>
        <p:spPr>
          <a:xfrm>
            <a:off x="640080" y="2971800"/>
            <a:ext cx="146304" cy="146304"/>
          </a:xfrm>
          <a:prstGeom prst="ellipse">
            <a:avLst/>
          </a:prstGeom>
          <a:solidFill>
            <a:srgbClr val="21C3A4"/>
          </a:solidFill>
          <a:ln/>
        </p:spPr>
      </p:sp>
      <p:sp>
        <p:nvSpPr>
          <p:cNvPr id="14" name="Text 12"/>
          <p:cNvSpPr txBox="1"/>
          <p:nvPr/>
        </p:nvSpPr>
        <p:spPr>
          <a:xfrm>
            <a:off x="914400" y="2834640"/>
            <a:ext cx="5029200" cy="411480"/>
          </a:xfrm>
          <a:prstGeom prst="rect">
            <a:avLst/>
          </a:prstGeom>
          <a:noFill/>
          <a:ln/>
        </p:spPr>
        <p:txBody>
          <a:bodyPr wrap="square" lIns="0" tIns="0" rIns="0" bIns="0" rtlCol="0" anchor="ctr"/>
          <a:lstStyle/>
          <a:p>
            <a:pPr marL="0" indent="0">
              <a:buNone/>
            </a:pPr>
            <a:r>
              <a:rPr lang="en-US" sz="1300" dirty="0">
                <a:solidFill>
                  <a:srgbClr val="E4EEF4"/>
                </a:solidFill>
                <a:latin typeface="Calibri" pitchFamily="34" charset="0"/>
                <a:ea typeface="Calibri" pitchFamily="34" charset="-122"/>
                <a:cs typeface="Calibri" pitchFamily="34" charset="-120"/>
              </a:rPr>
              <a:t>Production promotion via validated slot swap</a:t>
            </a:r>
            <a:endParaRPr lang="en-US" sz="1300" dirty="0"/>
          </a:p>
        </p:txBody>
      </p:sp>
      <p:sp>
        <p:nvSpPr>
          <p:cNvPr id="15" name="Shape 13"/>
          <p:cNvSpPr/>
          <p:nvPr/>
        </p:nvSpPr>
        <p:spPr>
          <a:xfrm>
            <a:off x="6126480" y="2971800"/>
            <a:ext cx="146304" cy="146304"/>
          </a:xfrm>
          <a:prstGeom prst="ellipse">
            <a:avLst/>
          </a:prstGeom>
          <a:solidFill>
            <a:srgbClr val="21C3A4"/>
          </a:solidFill>
          <a:ln/>
        </p:spPr>
      </p:sp>
      <p:sp>
        <p:nvSpPr>
          <p:cNvPr id="16" name="Text 14"/>
          <p:cNvSpPr txBox="1"/>
          <p:nvPr/>
        </p:nvSpPr>
        <p:spPr>
          <a:xfrm>
            <a:off x="6400800" y="2834640"/>
            <a:ext cx="5029200" cy="411480"/>
          </a:xfrm>
          <a:prstGeom prst="rect">
            <a:avLst/>
          </a:prstGeom>
          <a:noFill/>
          <a:ln/>
        </p:spPr>
        <p:txBody>
          <a:bodyPr wrap="square" lIns="0" tIns="0" rIns="0" bIns="0" rtlCol="0" anchor="ctr"/>
          <a:lstStyle/>
          <a:p>
            <a:pPr marL="0" indent="0">
              <a:buNone/>
            </a:pPr>
            <a:r>
              <a:rPr lang="en-US" sz="1300" dirty="0">
                <a:solidFill>
                  <a:srgbClr val="E4EEF4"/>
                </a:solidFill>
                <a:latin typeface="Calibri" pitchFamily="34" charset="0"/>
                <a:ea typeface="Calibri" pitchFamily="34" charset="-122"/>
                <a:cs typeface="Calibri" pitchFamily="34" charset="-120"/>
              </a:rPr>
              <a:t>Rollback capability tested and confirmed</a:t>
            </a:r>
            <a:endParaRPr lang="en-US" sz="1300" dirty="0"/>
          </a:p>
        </p:txBody>
      </p:sp>
      <p:sp>
        <p:nvSpPr>
          <p:cNvPr id="17" name="Shape 15"/>
          <p:cNvSpPr/>
          <p:nvPr/>
        </p:nvSpPr>
        <p:spPr>
          <a:xfrm>
            <a:off x="640080" y="3977640"/>
            <a:ext cx="1481328" cy="502920"/>
          </a:xfrm>
          <a:prstGeom prst="roundRect">
            <a:avLst>
              <a:gd name="adj" fmla="val 12727"/>
            </a:avLst>
          </a:prstGeom>
          <a:solidFill>
            <a:srgbClr val="1C7293"/>
          </a:solidFill>
          <a:ln/>
        </p:spPr>
      </p:sp>
      <p:sp>
        <p:nvSpPr>
          <p:cNvPr id="18" name="Text 16"/>
          <p:cNvSpPr txBox="1"/>
          <p:nvPr/>
        </p:nvSpPr>
        <p:spPr>
          <a:xfrm>
            <a:off x="640080"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BUILD</a:t>
            </a:r>
            <a:endParaRPr lang="en-US" sz="1050" dirty="0"/>
          </a:p>
        </p:txBody>
      </p:sp>
      <p:sp>
        <p:nvSpPr>
          <p:cNvPr id="19" name="Shape 17"/>
          <p:cNvSpPr/>
          <p:nvPr/>
        </p:nvSpPr>
        <p:spPr>
          <a:xfrm>
            <a:off x="2125980" y="4160520"/>
            <a:ext cx="100584" cy="146304"/>
          </a:xfrm>
          <a:prstGeom prst="rightArrow">
            <a:avLst/>
          </a:prstGeom>
          <a:solidFill>
            <a:srgbClr val="9FB4C4"/>
          </a:solidFill>
          <a:ln/>
        </p:spPr>
      </p:sp>
      <p:sp>
        <p:nvSpPr>
          <p:cNvPr id="20" name="Shape 18"/>
          <p:cNvSpPr/>
          <p:nvPr/>
        </p:nvSpPr>
        <p:spPr>
          <a:xfrm>
            <a:off x="2176272" y="3977640"/>
            <a:ext cx="1481328" cy="502920"/>
          </a:xfrm>
          <a:prstGeom prst="roundRect">
            <a:avLst>
              <a:gd name="adj" fmla="val 12727"/>
            </a:avLst>
          </a:prstGeom>
          <a:solidFill>
            <a:srgbClr val="1C7293"/>
          </a:solidFill>
          <a:ln/>
        </p:spPr>
      </p:sp>
      <p:sp>
        <p:nvSpPr>
          <p:cNvPr id="21" name="Text 19"/>
          <p:cNvSpPr txBox="1"/>
          <p:nvPr/>
        </p:nvSpPr>
        <p:spPr>
          <a:xfrm>
            <a:off x="2176272"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STAGING</a:t>
            </a:r>
            <a:endParaRPr lang="en-US" sz="1050" dirty="0"/>
          </a:p>
        </p:txBody>
      </p:sp>
      <p:sp>
        <p:nvSpPr>
          <p:cNvPr id="22" name="Shape 20"/>
          <p:cNvSpPr/>
          <p:nvPr/>
        </p:nvSpPr>
        <p:spPr>
          <a:xfrm>
            <a:off x="3662172" y="4160520"/>
            <a:ext cx="100584" cy="146304"/>
          </a:xfrm>
          <a:prstGeom prst="rightArrow">
            <a:avLst/>
          </a:prstGeom>
          <a:solidFill>
            <a:srgbClr val="9FB4C4"/>
          </a:solidFill>
          <a:ln/>
        </p:spPr>
      </p:sp>
      <p:sp>
        <p:nvSpPr>
          <p:cNvPr id="23" name="Shape 21"/>
          <p:cNvSpPr/>
          <p:nvPr/>
        </p:nvSpPr>
        <p:spPr>
          <a:xfrm>
            <a:off x="3712464" y="3977640"/>
            <a:ext cx="1481328" cy="502920"/>
          </a:xfrm>
          <a:prstGeom prst="roundRect">
            <a:avLst>
              <a:gd name="adj" fmla="val 12727"/>
            </a:avLst>
          </a:prstGeom>
          <a:solidFill>
            <a:srgbClr val="1C7293"/>
          </a:solidFill>
          <a:ln/>
        </p:spPr>
      </p:sp>
      <p:sp>
        <p:nvSpPr>
          <p:cNvPr id="24" name="Text 22"/>
          <p:cNvSpPr txBox="1"/>
          <p:nvPr/>
        </p:nvSpPr>
        <p:spPr>
          <a:xfrm>
            <a:off x="3712464"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25" name="Shape 23"/>
          <p:cNvSpPr/>
          <p:nvPr/>
        </p:nvSpPr>
        <p:spPr>
          <a:xfrm>
            <a:off x="5198364" y="4160520"/>
            <a:ext cx="100584" cy="146304"/>
          </a:xfrm>
          <a:prstGeom prst="rightArrow">
            <a:avLst/>
          </a:prstGeom>
          <a:solidFill>
            <a:srgbClr val="9FB4C4"/>
          </a:solidFill>
          <a:ln/>
        </p:spPr>
      </p:sp>
      <p:sp>
        <p:nvSpPr>
          <p:cNvPr id="26" name="Shape 24"/>
          <p:cNvSpPr/>
          <p:nvPr/>
        </p:nvSpPr>
        <p:spPr>
          <a:xfrm>
            <a:off x="5248656" y="3977640"/>
            <a:ext cx="1481328" cy="502920"/>
          </a:xfrm>
          <a:prstGeom prst="roundRect">
            <a:avLst>
              <a:gd name="adj" fmla="val 12727"/>
            </a:avLst>
          </a:prstGeom>
          <a:solidFill>
            <a:srgbClr val="1C7293"/>
          </a:solidFill>
          <a:ln/>
        </p:spPr>
      </p:sp>
      <p:sp>
        <p:nvSpPr>
          <p:cNvPr id="27" name="Text 25"/>
          <p:cNvSpPr txBox="1"/>
          <p:nvPr/>
        </p:nvSpPr>
        <p:spPr>
          <a:xfrm>
            <a:off x="5248656"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WARM-UP</a:t>
            </a:r>
            <a:endParaRPr lang="en-US" sz="1050" dirty="0"/>
          </a:p>
        </p:txBody>
      </p:sp>
      <p:sp>
        <p:nvSpPr>
          <p:cNvPr id="28" name="Shape 26"/>
          <p:cNvSpPr/>
          <p:nvPr/>
        </p:nvSpPr>
        <p:spPr>
          <a:xfrm>
            <a:off x="6734556" y="4160520"/>
            <a:ext cx="100584" cy="146304"/>
          </a:xfrm>
          <a:prstGeom prst="rightArrow">
            <a:avLst/>
          </a:prstGeom>
          <a:solidFill>
            <a:srgbClr val="9FB4C4"/>
          </a:solidFill>
          <a:ln/>
        </p:spPr>
      </p:sp>
      <p:sp>
        <p:nvSpPr>
          <p:cNvPr id="29" name="Shape 27"/>
          <p:cNvSpPr/>
          <p:nvPr/>
        </p:nvSpPr>
        <p:spPr>
          <a:xfrm>
            <a:off x="6784848" y="3977640"/>
            <a:ext cx="1481328" cy="502920"/>
          </a:xfrm>
          <a:prstGeom prst="roundRect">
            <a:avLst>
              <a:gd name="adj" fmla="val 12727"/>
            </a:avLst>
          </a:prstGeom>
          <a:solidFill>
            <a:srgbClr val="1C7293"/>
          </a:solidFill>
          <a:ln/>
        </p:spPr>
      </p:sp>
      <p:sp>
        <p:nvSpPr>
          <p:cNvPr id="30" name="Text 28"/>
          <p:cNvSpPr txBox="1"/>
          <p:nvPr/>
        </p:nvSpPr>
        <p:spPr>
          <a:xfrm>
            <a:off x="6784848"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SWAP</a:t>
            </a:r>
            <a:endParaRPr lang="en-US" sz="1050" dirty="0"/>
          </a:p>
        </p:txBody>
      </p:sp>
      <p:sp>
        <p:nvSpPr>
          <p:cNvPr id="31" name="Shape 29"/>
          <p:cNvSpPr/>
          <p:nvPr/>
        </p:nvSpPr>
        <p:spPr>
          <a:xfrm>
            <a:off x="8270748" y="4160520"/>
            <a:ext cx="100584" cy="146304"/>
          </a:xfrm>
          <a:prstGeom prst="rightArrow">
            <a:avLst/>
          </a:prstGeom>
          <a:solidFill>
            <a:srgbClr val="9FB4C4"/>
          </a:solidFill>
          <a:ln/>
        </p:spPr>
      </p:sp>
      <p:sp>
        <p:nvSpPr>
          <p:cNvPr id="32" name="Shape 30"/>
          <p:cNvSpPr/>
          <p:nvPr/>
        </p:nvSpPr>
        <p:spPr>
          <a:xfrm>
            <a:off x="8321040" y="3977640"/>
            <a:ext cx="1481328" cy="502920"/>
          </a:xfrm>
          <a:prstGeom prst="roundRect">
            <a:avLst>
              <a:gd name="adj" fmla="val 12727"/>
            </a:avLst>
          </a:prstGeom>
          <a:solidFill>
            <a:srgbClr val="1C7293"/>
          </a:solidFill>
          <a:ln/>
        </p:spPr>
      </p:sp>
      <p:sp>
        <p:nvSpPr>
          <p:cNvPr id="33" name="Text 31"/>
          <p:cNvSpPr txBox="1"/>
          <p:nvPr/>
        </p:nvSpPr>
        <p:spPr>
          <a:xfrm>
            <a:off x="8321040"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PRODUCTION</a:t>
            </a:r>
            <a:endParaRPr lang="en-US" sz="1050" dirty="0"/>
          </a:p>
        </p:txBody>
      </p:sp>
      <p:sp>
        <p:nvSpPr>
          <p:cNvPr id="34" name="Shape 32"/>
          <p:cNvSpPr/>
          <p:nvPr/>
        </p:nvSpPr>
        <p:spPr>
          <a:xfrm>
            <a:off x="9806940" y="4160520"/>
            <a:ext cx="100584" cy="146304"/>
          </a:xfrm>
          <a:prstGeom prst="rightArrow">
            <a:avLst/>
          </a:prstGeom>
          <a:solidFill>
            <a:srgbClr val="9FB4C4"/>
          </a:solidFill>
          <a:ln/>
        </p:spPr>
      </p:sp>
      <p:sp>
        <p:nvSpPr>
          <p:cNvPr id="35" name="Shape 33"/>
          <p:cNvSpPr/>
          <p:nvPr/>
        </p:nvSpPr>
        <p:spPr>
          <a:xfrm>
            <a:off x="9857232" y="3977640"/>
            <a:ext cx="1481328" cy="502920"/>
          </a:xfrm>
          <a:prstGeom prst="roundRect">
            <a:avLst>
              <a:gd name="adj" fmla="val 12727"/>
            </a:avLst>
          </a:prstGeom>
          <a:solidFill>
            <a:srgbClr val="C7511F"/>
          </a:solidFill>
          <a:ln/>
        </p:spPr>
      </p:sp>
      <p:sp>
        <p:nvSpPr>
          <p:cNvPr id="36" name="Text 34"/>
          <p:cNvSpPr txBox="1"/>
          <p:nvPr/>
        </p:nvSpPr>
        <p:spPr>
          <a:xfrm>
            <a:off x="9857232" y="3977640"/>
            <a:ext cx="148132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ROLLBACK*</a:t>
            </a:r>
            <a:endParaRPr lang="en-US" sz="1050" dirty="0"/>
          </a:p>
        </p:txBody>
      </p:sp>
      <p:sp>
        <p:nvSpPr>
          <p:cNvPr id="37" name="Text 35"/>
          <p:cNvSpPr txBox="1"/>
          <p:nvPr/>
        </p:nvSpPr>
        <p:spPr>
          <a:xfrm>
            <a:off x="640080" y="4526280"/>
            <a:ext cx="3657600" cy="274320"/>
          </a:xfrm>
          <a:prstGeom prst="rect">
            <a:avLst/>
          </a:prstGeom>
          <a:noFill/>
          <a:ln/>
        </p:spPr>
        <p:txBody>
          <a:bodyPr wrap="square" lIns="0" tIns="0" rIns="0" bIns="0" rtlCol="0" anchor="ctr"/>
          <a:lstStyle/>
          <a:p>
            <a:pPr marL="0" indent="0">
              <a:buNone/>
            </a:pPr>
            <a:r>
              <a:rPr lang="en-US" sz="1000" i="1" dirty="0">
                <a:solidFill>
                  <a:srgbClr val="9FB4C4"/>
                </a:solidFill>
                <a:latin typeface="Calibri" pitchFamily="34" charset="0"/>
                <a:ea typeface="Calibri" pitchFamily="34" charset="-122"/>
                <a:cs typeface="Calibri" pitchFamily="34" charset="-120"/>
              </a:rPr>
              <a:t>*if required</a:t>
            </a:r>
            <a:endParaRPr lang="en-US" sz="1000" dirty="0"/>
          </a:p>
        </p:txBody>
      </p:sp>
      <p:sp>
        <p:nvSpPr>
          <p:cNvPr id="38" name="Text 36"/>
          <p:cNvSpPr txBox="1"/>
          <p:nvPr/>
        </p:nvSpPr>
        <p:spPr>
          <a:xfrm>
            <a:off x="640080" y="6126480"/>
            <a:ext cx="73152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github.com/jyothika1537/azure-student-portal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TotalTime>
  <Words>1941</Words>
  <Application>Microsoft Office PowerPoint</Application>
  <PresentationFormat>Widescreen</PresentationFormat>
  <Paragraphs>228</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VUCHA JYOTHIKA</cp:lastModifiedBy>
  <cp:revision>2</cp:revision>
  <dcterms:created xsi:type="dcterms:W3CDTF">2026-09-26T13:27:49Z</dcterms:created>
  <dcterms:modified xsi:type="dcterms:W3CDTF">2026-09-27T04:44:30Z</dcterms:modified>
</cp:coreProperties>
</file>